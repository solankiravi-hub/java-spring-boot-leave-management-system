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Readex Pro" panose="020B0604020202020204" charset="-78"/>
      <p:regular r:id="rId16"/>
    </p:embeddedFont>
    <p:embeddedFont>
      <p:font typeface="Readex Pro Bold" panose="020B0604020202020204" charset="-78"/>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l="-5147" r="-5147"/>
            </a:stretch>
          </a:blipFill>
        </p:spPr>
      </p:sp>
      <p:sp>
        <p:nvSpPr>
          <p:cNvPr id="3" name="TextBox 3"/>
          <p:cNvSpPr txBox="1"/>
          <p:nvPr/>
        </p:nvSpPr>
        <p:spPr>
          <a:xfrm>
            <a:off x="4330425" y="3271078"/>
            <a:ext cx="11019934" cy="2992016"/>
          </a:xfrm>
          <a:prstGeom prst="rect">
            <a:avLst/>
          </a:prstGeom>
        </p:spPr>
        <p:txBody>
          <a:bodyPr lIns="0" tIns="0" rIns="0" bIns="0" rtlCol="0" anchor="t">
            <a:spAutoFit/>
          </a:bodyPr>
          <a:lstStyle/>
          <a:p>
            <a:pPr marL="0" lvl="0" indent="0" algn="l">
              <a:lnSpc>
                <a:spcPts val="7775"/>
              </a:lnSpc>
            </a:pPr>
            <a:r>
              <a:rPr lang="en-US" sz="7622" b="1">
                <a:solidFill>
                  <a:srgbClr val="3159BC"/>
                </a:solidFill>
                <a:latin typeface="Readex Pro Bold"/>
                <a:ea typeface="Readex Pro Bold"/>
                <a:cs typeface="Readex Pro Bold"/>
                <a:sym typeface="Readex Pro Bold"/>
              </a:rPr>
              <a:t>EMPLOYEE LEAVE MANAGEMENT SYSTEM</a:t>
            </a:r>
          </a:p>
        </p:txBody>
      </p:sp>
      <p:grpSp>
        <p:nvGrpSpPr>
          <p:cNvPr id="4" name="Group 4"/>
          <p:cNvGrpSpPr>
            <a:grpSpLocks noChangeAspect="1"/>
          </p:cNvGrpSpPr>
          <p:nvPr/>
        </p:nvGrpSpPr>
        <p:grpSpPr>
          <a:xfrm>
            <a:off x="12802236" y="4690089"/>
            <a:ext cx="6418935" cy="6418935"/>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130" y="0"/>
                    <a:pt x="0" y="1421130"/>
                    <a:pt x="0" y="3175000"/>
                  </a:cubicBezTo>
                  <a:lnTo>
                    <a:pt x="0" y="6350000"/>
                  </a:lnTo>
                  <a:lnTo>
                    <a:pt x="3175000" y="6350000"/>
                  </a:lnTo>
                  <a:cubicBezTo>
                    <a:pt x="4928870" y="6350000"/>
                    <a:pt x="6350000" y="4928870"/>
                    <a:pt x="6350000" y="3175000"/>
                  </a:cubicBezTo>
                  <a:cubicBezTo>
                    <a:pt x="6350000" y="1421130"/>
                    <a:pt x="4928870" y="0"/>
                    <a:pt x="3175000" y="0"/>
                  </a:cubicBezTo>
                  <a:close/>
                </a:path>
              </a:pathLst>
            </a:custGeom>
            <a:solidFill>
              <a:srgbClr val="3159BC"/>
            </a:solidFill>
          </p:spPr>
        </p:sp>
        <p:sp>
          <p:nvSpPr>
            <p:cNvPr id="6" name="Freeform 6"/>
            <p:cNvSpPr/>
            <p:nvPr/>
          </p:nvSpPr>
          <p:spPr>
            <a:xfrm>
              <a:off x="353169" y="392402"/>
              <a:ext cx="5643663" cy="5618536"/>
            </a:xfrm>
            <a:custGeom>
              <a:avLst/>
              <a:gdLst/>
              <a:ahLst/>
              <a:cxnLst/>
              <a:rect l="l" t="t" r="r" b="b"/>
              <a:pathLst>
                <a:path w="5643663" h="5618536">
                  <a:moveTo>
                    <a:pt x="2821831" y="28"/>
                  </a:moveTo>
                  <a:cubicBezTo>
                    <a:pt x="1815193" y="-4474"/>
                    <a:pt x="883090" y="529978"/>
                    <a:pt x="378467" y="1401009"/>
                  </a:cubicBezTo>
                  <a:cubicBezTo>
                    <a:pt x="-126156" y="2272040"/>
                    <a:pt x="-126156" y="3346496"/>
                    <a:pt x="378467" y="4217527"/>
                  </a:cubicBezTo>
                  <a:cubicBezTo>
                    <a:pt x="883090" y="5088558"/>
                    <a:pt x="1815193" y="5623010"/>
                    <a:pt x="2821831" y="5618508"/>
                  </a:cubicBezTo>
                  <a:cubicBezTo>
                    <a:pt x="3828469" y="5623010"/>
                    <a:pt x="4760572" y="5088558"/>
                    <a:pt x="5265195" y="4217527"/>
                  </a:cubicBezTo>
                  <a:cubicBezTo>
                    <a:pt x="5769818" y="3346496"/>
                    <a:pt x="5769818" y="2272040"/>
                    <a:pt x="5265195" y="1401009"/>
                  </a:cubicBezTo>
                  <a:cubicBezTo>
                    <a:pt x="4760572" y="529977"/>
                    <a:pt x="3828469" y="-4474"/>
                    <a:pt x="2821831" y="28"/>
                  </a:cubicBezTo>
                  <a:close/>
                </a:path>
              </a:pathLst>
            </a:custGeom>
            <a:blipFill>
              <a:blip r:embed="rId3"/>
              <a:stretch>
                <a:fillRect l="223" r="223"/>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TextBox 4"/>
          <p:cNvSpPr txBox="1"/>
          <p:nvPr/>
        </p:nvSpPr>
        <p:spPr>
          <a:xfrm>
            <a:off x="4388598" y="3381023"/>
            <a:ext cx="11057897" cy="17624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Manual leave tracking is inefficient and error-prone, leading to inaccurate records and wasted administrative time. Managing employee leave records becomes increasingly difficult as the organization grows.</a:t>
            </a:r>
          </a:p>
        </p:txBody>
      </p:sp>
      <p:sp>
        <p:nvSpPr>
          <p:cNvPr id="5" name="Freeform 5"/>
          <p:cNvSpPr/>
          <p:nvPr/>
        </p:nvSpPr>
        <p:spPr>
          <a:xfrm>
            <a:off x="2637745" y="3923095"/>
            <a:ext cx="1193779" cy="1106958"/>
          </a:xfrm>
          <a:custGeom>
            <a:avLst/>
            <a:gdLst/>
            <a:ahLst/>
            <a:cxnLst/>
            <a:rect l="l" t="t" r="r" b="b"/>
            <a:pathLst>
              <a:path w="1193779" h="1106958">
                <a:moveTo>
                  <a:pt x="0" y="0"/>
                </a:moveTo>
                <a:lnTo>
                  <a:pt x="1193778" y="0"/>
                </a:lnTo>
                <a:lnTo>
                  <a:pt x="1193778" y="1106958"/>
                </a:lnTo>
                <a:lnTo>
                  <a:pt x="0" y="11069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234634" y="1740698"/>
            <a:ext cx="11818732" cy="1059242"/>
          </a:xfrm>
          <a:prstGeom prst="rect">
            <a:avLst/>
          </a:prstGeom>
        </p:spPr>
        <p:txBody>
          <a:bodyPr lIns="0" tIns="0" rIns="0" bIns="0" rtlCol="0" anchor="t">
            <a:spAutoFit/>
          </a:bodyPr>
          <a:lstStyle/>
          <a:p>
            <a:pPr marL="0" lvl="0" indent="0" algn="ctr">
              <a:lnSpc>
                <a:spcPts val="8162"/>
              </a:lnSpc>
            </a:pPr>
            <a:r>
              <a:rPr lang="en-US" sz="8002" b="1">
                <a:solidFill>
                  <a:srgbClr val="3159BC"/>
                </a:solidFill>
                <a:latin typeface="Readex Pro Bold"/>
                <a:ea typeface="Readex Pro Bold"/>
                <a:cs typeface="Readex Pro Bold"/>
                <a:sym typeface="Readex Pro Bold"/>
              </a:rPr>
              <a:t>Problem Statement</a:t>
            </a:r>
          </a:p>
        </p:txBody>
      </p:sp>
      <p:sp>
        <p:nvSpPr>
          <p:cNvPr id="7" name="TextBox 7"/>
          <p:cNvSpPr txBox="1"/>
          <p:nvPr/>
        </p:nvSpPr>
        <p:spPr>
          <a:xfrm>
            <a:off x="4388598" y="6162675"/>
            <a:ext cx="11057897" cy="17624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There is a lack of transparency between employees and management regarding leave balances and request status. The approval process is time-consuming, causing delays and frustration for all stakeholders.</a:t>
            </a:r>
          </a:p>
        </p:txBody>
      </p:sp>
      <p:sp>
        <p:nvSpPr>
          <p:cNvPr id="8" name="Freeform 8"/>
          <p:cNvSpPr/>
          <p:nvPr/>
        </p:nvSpPr>
        <p:spPr>
          <a:xfrm>
            <a:off x="2858266" y="6469259"/>
            <a:ext cx="1193779" cy="1106958"/>
          </a:xfrm>
          <a:custGeom>
            <a:avLst/>
            <a:gdLst/>
            <a:ahLst/>
            <a:cxnLst/>
            <a:rect l="l" t="t" r="r" b="b"/>
            <a:pathLst>
              <a:path w="1193779" h="1106958">
                <a:moveTo>
                  <a:pt x="0" y="0"/>
                </a:moveTo>
                <a:lnTo>
                  <a:pt x="1193779" y="0"/>
                </a:lnTo>
                <a:lnTo>
                  <a:pt x="1193779" y="1106958"/>
                </a:lnTo>
                <a:lnTo>
                  <a:pt x="0" y="1106958"/>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Freeform 4"/>
          <p:cNvSpPr/>
          <p:nvPr/>
        </p:nvSpPr>
        <p:spPr>
          <a:xfrm>
            <a:off x="1922343" y="3981555"/>
            <a:ext cx="991135" cy="989390"/>
          </a:xfrm>
          <a:custGeom>
            <a:avLst/>
            <a:gdLst/>
            <a:ahLst/>
            <a:cxnLst/>
            <a:rect l="l" t="t" r="r" b="b"/>
            <a:pathLst>
              <a:path w="991135" h="989390">
                <a:moveTo>
                  <a:pt x="0" y="0"/>
                </a:moveTo>
                <a:lnTo>
                  <a:pt x="991135" y="0"/>
                </a:lnTo>
                <a:lnTo>
                  <a:pt x="991135" y="989391"/>
                </a:lnTo>
                <a:lnTo>
                  <a:pt x="0" y="989391"/>
                </a:lnTo>
                <a:lnTo>
                  <a:pt x="0" y="0"/>
                </a:lnTo>
                <a:close/>
              </a:path>
            </a:pathLst>
          </a:custGeom>
          <a:blipFill>
            <a:blip r:embed="rId3"/>
            <a:stretch>
              <a:fillRect/>
            </a:stretch>
          </a:blipFill>
        </p:spPr>
      </p:sp>
      <p:sp>
        <p:nvSpPr>
          <p:cNvPr id="5" name="TextBox 5"/>
          <p:cNvSpPr txBox="1"/>
          <p:nvPr/>
        </p:nvSpPr>
        <p:spPr>
          <a:xfrm>
            <a:off x="3234634" y="1181100"/>
            <a:ext cx="11818732" cy="1059371"/>
          </a:xfrm>
          <a:prstGeom prst="rect">
            <a:avLst/>
          </a:prstGeom>
        </p:spPr>
        <p:txBody>
          <a:bodyPr lIns="0" tIns="0" rIns="0" bIns="0" rtlCol="0" anchor="t">
            <a:spAutoFit/>
          </a:bodyPr>
          <a:lstStyle/>
          <a:p>
            <a:pPr marL="0" lvl="0" indent="0" algn="ctr">
              <a:lnSpc>
                <a:spcPts val="8168"/>
              </a:lnSpc>
            </a:pPr>
            <a:r>
              <a:rPr lang="en-US" sz="8008" b="1">
                <a:solidFill>
                  <a:srgbClr val="3159BC"/>
                </a:solidFill>
                <a:latin typeface="Readex Pro Bold"/>
                <a:ea typeface="Readex Pro Bold"/>
                <a:cs typeface="Readex Pro Bold"/>
                <a:sym typeface="Readex Pro Bold"/>
              </a:rPr>
              <a:t>Objectives</a:t>
            </a:r>
          </a:p>
        </p:txBody>
      </p:sp>
      <p:sp>
        <p:nvSpPr>
          <p:cNvPr id="6" name="TextBox 6"/>
          <p:cNvSpPr txBox="1"/>
          <p:nvPr/>
        </p:nvSpPr>
        <p:spPr>
          <a:xfrm>
            <a:off x="3234634" y="3819173"/>
            <a:ext cx="13189730" cy="8861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Automate leave application and approval process, eliminating manual paperwork and streamlining workflow for faster processing times.</a:t>
            </a:r>
          </a:p>
        </p:txBody>
      </p:sp>
      <p:sp>
        <p:nvSpPr>
          <p:cNvPr id="7" name="TextBox 7"/>
          <p:cNvSpPr txBox="1"/>
          <p:nvPr/>
        </p:nvSpPr>
        <p:spPr>
          <a:xfrm>
            <a:off x="3234634" y="5436087"/>
            <a:ext cx="13189730" cy="8861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Maintain centralized employee leave records with real-time status updates, ensuring transparency between employees and management.</a:t>
            </a:r>
          </a:p>
        </p:txBody>
      </p:sp>
      <p:sp>
        <p:nvSpPr>
          <p:cNvPr id="8" name="TextBox 8"/>
          <p:cNvSpPr txBox="1"/>
          <p:nvPr/>
        </p:nvSpPr>
        <p:spPr>
          <a:xfrm>
            <a:off x="3234634" y="7053002"/>
            <a:ext cx="13189730" cy="8861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Reduce human errors and administrative overhead through automated calculations and digital record-keeping systems.</a:t>
            </a:r>
          </a:p>
        </p:txBody>
      </p:sp>
      <p:sp>
        <p:nvSpPr>
          <p:cNvPr id="9" name="Freeform 9"/>
          <p:cNvSpPr/>
          <p:nvPr/>
        </p:nvSpPr>
        <p:spPr>
          <a:xfrm>
            <a:off x="2035081" y="5623012"/>
            <a:ext cx="763157" cy="935947"/>
          </a:xfrm>
          <a:custGeom>
            <a:avLst/>
            <a:gdLst/>
            <a:ahLst/>
            <a:cxnLst/>
            <a:rect l="l" t="t" r="r" b="b"/>
            <a:pathLst>
              <a:path w="763157" h="935947">
                <a:moveTo>
                  <a:pt x="0" y="0"/>
                </a:moveTo>
                <a:lnTo>
                  <a:pt x="763157" y="0"/>
                </a:lnTo>
                <a:lnTo>
                  <a:pt x="763157" y="935946"/>
                </a:lnTo>
                <a:lnTo>
                  <a:pt x="0" y="935946"/>
                </a:lnTo>
                <a:lnTo>
                  <a:pt x="0" y="0"/>
                </a:lnTo>
                <a:close/>
              </a:path>
            </a:pathLst>
          </a:custGeom>
          <a:blipFill>
            <a:blip r:embed="rId4"/>
            <a:stretch>
              <a:fillRect/>
            </a:stretch>
          </a:blipFill>
        </p:spPr>
      </p:sp>
      <p:sp>
        <p:nvSpPr>
          <p:cNvPr id="10" name="Freeform 10"/>
          <p:cNvSpPr/>
          <p:nvPr/>
        </p:nvSpPr>
        <p:spPr>
          <a:xfrm>
            <a:off x="1973525" y="7233986"/>
            <a:ext cx="887005" cy="1023089"/>
          </a:xfrm>
          <a:custGeom>
            <a:avLst/>
            <a:gdLst/>
            <a:ahLst/>
            <a:cxnLst/>
            <a:rect l="l" t="t" r="r" b="b"/>
            <a:pathLst>
              <a:path w="887005" h="1023089">
                <a:moveTo>
                  <a:pt x="0" y="0"/>
                </a:moveTo>
                <a:lnTo>
                  <a:pt x="887005" y="0"/>
                </a:lnTo>
                <a:lnTo>
                  <a:pt x="887005" y="1023089"/>
                </a:lnTo>
                <a:lnTo>
                  <a:pt x="0" y="1023089"/>
                </a:lnTo>
                <a:lnTo>
                  <a:pt x="0" y="0"/>
                </a:lnTo>
                <a:close/>
              </a:path>
            </a:pathLst>
          </a:custGeom>
          <a:blipFill>
            <a:blip r:embed="rId5"/>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Freeform 4"/>
          <p:cNvSpPr/>
          <p:nvPr/>
        </p:nvSpPr>
        <p:spPr>
          <a:xfrm>
            <a:off x="7765311" y="4753808"/>
            <a:ext cx="2757377" cy="992656"/>
          </a:xfrm>
          <a:custGeom>
            <a:avLst/>
            <a:gdLst/>
            <a:ahLst/>
            <a:cxnLst/>
            <a:rect l="l" t="t" r="r" b="b"/>
            <a:pathLst>
              <a:path w="2757377" h="992656">
                <a:moveTo>
                  <a:pt x="0" y="0"/>
                </a:moveTo>
                <a:lnTo>
                  <a:pt x="2757378" y="0"/>
                </a:lnTo>
                <a:lnTo>
                  <a:pt x="2757378" y="992656"/>
                </a:lnTo>
                <a:lnTo>
                  <a:pt x="0" y="99265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234634" y="1740698"/>
            <a:ext cx="11818732" cy="1059242"/>
          </a:xfrm>
          <a:prstGeom prst="rect">
            <a:avLst/>
          </a:prstGeom>
        </p:spPr>
        <p:txBody>
          <a:bodyPr lIns="0" tIns="0" rIns="0" bIns="0" rtlCol="0" anchor="t">
            <a:spAutoFit/>
          </a:bodyPr>
          <a:lstStyle/>
          <a:p>
            <a:pPr marL="0" lvl="0" indent="0" algn="ctr">
              <a:lnSpc>
                <a:spcPts val="8162"/>
              </a:lnSpc>
            </a:pPr>
            <a:r>
              <a:rPr lang="en-US" sz="8002" b="1">
                <a:solidFill>
                  <a:srgbClr val="3159BC"/>
                </a:solidFill>
                <a:latin typeface="Readex Pro Bold"/>
                <a:ea typeface="Readex Pro Bold"/>
                <a:cs typeface="Readex Pro Bold"/>
                <a:sym typeface="Readex Pro Bold"/>
              </a:rPr>
              <a:t>System Overview</a:t>
            </a:r>
          </a:p>
        </p:txBody>
      </p:sp>
      <p:sp>
        <p:nvSpPr>
          <p:cNvPr id="6" name="TextBox 6"/>
          <p:cNvSpPr txBox="1"/>
          <p:nvPr/>
        </p:nvSpPr>
        <p:spPr>
          <a:xfrm>
            <a:off x="11017989" y="3623240"/>
            <a:ext cx="5188947" cy="4819684"/>
          </a:xfrm>
          <a:prstGeom prst="rect">
            <a:avLst/>
          </a:prstGeom>
        </p:spPr>
        <p:txBody>
          <a:bodyPr lIns="0" tIns="0" rIns="0" bIns="0" rtlCol="0" anchor="t">
            <a:spAutoFit/>
          </a:bodyPr>
          <a:lstStyle/>
          <a:p>
            <a:pPr marL="0" lvl="0" indent="0" algn="just">
              <a:lnSpc>
                <a:spcPts val="3456"/>
              </a:lnSpc>
            </a:pPr>
            <a:r>
              <a:rPr lang="en-US" sz="3005">
                <a:solidFill>
                  <a:srgbClr val="3159BC"/>
                </a:solidFill>
                <a:latin typeface="Readex Pro"/>
                <a:ea typeface="Readex Pro"/>
                <a:cs typeface="Readex Pro"/>
                <a:sym typeface="Readex Pro"/>
              </a:rPr>
              <a:t>Manager Reviews &amp; Approves</a:t>
            </a:r>
          </a:p>
          <a:p>
            <a:pPr marL="0" lvl="0" indent="0" algn="just">
              <a:lnSpc>
                <a:spcPts val="3456"/>
              </a:lnSpc>
            </a:pPr>
            <a:r>
              <a:rPr lang="en-US" sz="3005">
                <a:solidFill>
                  <a:srgbClr val="3159BC"/>
                </a:solidFill>
                <a:latin typeface="Readex Pro"/>
                <a:ea typeface="Readex Pro"/>
                <a:cs typeface="Readex Pro"/>
                <a:sym typeface="Readex Pro"/>
              </a:rPr>
              <a:t>Manager receives leave request notification and reviews details. Can approve or reject with comments.</a:t>
            </a:r>
          </a:p>
          <a:p>
            <a:pPr marL="0" lvl="0" indent="0" algn="just">
              <a:lnSpc>
                <a:spcPts val="3456"/>
              </a:lnSpc>
            </a:pPr>
            <a:r>
              <a:rPr lang="en-US" sz="3005">
                <a:solidFill>
                  <a:srgbClr val="3159BC"/>
                </a:solidFill>
                <a:latin typeface="Readex Pro"/>
                <a:ea typeface="Readex Pro"/>
                <a:cs typeface="Readex Pro"/>
                <a:sym typeface="Readex Pro"/>
              </a:rPr>
              <a:t>Admin Monitors Records</a:t>
            </a:r>
          </a:p>
          <a:p>
            <a:pPr marL="0" lvl="0" indent="0" algn="just">
              <a:lnSpc>
                <a:spcPts val="3456"/>
              </a:lnSpc>
            </a:pPr>
            <a:r>
              <a:rPr lang="en-US" sz="3005">
                <a:solidFill>
                  <a:srgbClr val="3159BC"/>
                </a:solidFill>
                <a:latin typeface="Readex Pro"/>
                <a:ea typeface="Readex Pro"/>
                <a:cs typeface="Readex Pro"/>
                <a:sym typeface="Readex Pro"/>
              </a:rPr>
              <a:t>Administrator has full visibility of all leave records, can generate reports and manage system settings.</a:t>
            </a:r>
          </a:p>
        </p:txBody>
      </p:sp>
      <p:sp>
        <p:nvSpPr>
          <p:cNvPr id="7" name="TextBox 7"/>
          <p:cNvSpPr txBox="1"/>
          <p:nvPr/>
        </p:nvSpPr>
        <p:spPr>
          <a:xfrm>
            <a:off x="2081065" y="3623240"/>
            <a:ext cx="5188947" cy="4039567"/>
          </a:xfrm>
          <a:prstGeom prst="rect">
            <a:avLst/>
          </a:prstGeom>
        </p:spPr>
        <p:txBody>
          <a:bodyPr lIns="0" tIns="0" rIns="0" bIns="0" rtlCol="0" anchor="t">
            <a:spAutoFit/>
          </a:bodyPr>
          <a:lstStyle/>
          <a:p>
            <a:pPr marL="0" lvl="0" indent="0" algn="just">
              <a:lnSpc>
                <a:spcPts val="3456"/>
              </a:lnSpc>
            </a:pPr>
            <a:r>
              <a:rPr lang="en-US" sz="3005" dirty="0">
                <a:solidFill>
                  <a:srgbClr val="3159BC"/>
                </a:solidFill>
                <a:latin typeface="Readex Pro"/>
                <a:ea typeface="Readex Pro"/>
                <a:cs typeface="Readex Pro"/>
                <a:sym typeface="Readex Pro"/>
              </a:rPr>
              <a:t>Employee Applies for Leave</a:t>
            </a:r>
          </a:p>
          <a:p>
            <a:pPr marL="0" lvl="0" indent="0" algn="just">
              <a:lnSpc>
                <a:spcPts val="3456"/>
              </a:lnSpc>
            </a:pPr>
            <a:r>
              <a:rPr lang="en-US" sz="3005" dirty="0">
                <a:solidFill>
                  <a:srgbClr val="3159BC"/>
                </a:solidFill>
                <a:latin typeface="Readex Pro"/>
                <a:ea typeface="Readex Pro"/>
                <a:cs typeface="Readex Pro"/>
                <a:sym typeface="Readex Pro"/>
              </a:rPr>
              <a:t>Employee submits leave request through the system portal, selecting dates .</a:t>
            </a:r>
          </a:p>
          <a:p>
            <a:pPr marL="0" lvl="0" indent="0" algn="just">
              <a:lnSpc>
                <a:spcPts val="3456"/>
              </a:lnSpc>
            </a:pPr>
            <a:r>
              <a:rPr lang="en-US" sz="3005" dirty="0">
                <a:solidFill>
                  <a:srgbClr val="3159BC"/>
                </a:solidFill>
                <a:latin typeface="Readex Pro"/>
                <a:ea typeface="Readex Pro"/>
                <a:cs typeface="Readex Pro"/>
                <a:sym typeface="Readex Pro"/>
              </a:rPr>
              <a:t>System Updates Balance</a:t>
            </a:r>
          </a:p>
          <a:p>
            <a:pPr marL="0" lvl="0" indent="0" algn="just">
              <a:lnSpc>
                <a:spcPts val="3456"/>
              </a:lnSpc>
            </a:pPr>
            <a:r>
              <a:rPr lang="en-US" sz="3005" dirty="0">
                <a:solidFill>
                  <a:srgbClr val="3159BC"/>
                </a:solidFill>
                <a:latin typeface="Readex Pro"/>
                <a:ea typeface="Readex Pro"/>
                <a:cs typeface="Readex Pro"/>
                <a:sym typeface="Readex Pro"/>
              </a:rPr>
              <a:t>Upon approval, the system automatically calculates and updates the employee's leave balance.</a:t>
            </a:r>
          </a:p>
        </p:txBody>
      </p:sp>
      <p:sp>
        <p:nvSpPr>
          <p:cNvPr id="8" name="Freeform 8"/>
          <p:cNvSpPr/>
          <p:nvPr/>
        </p:nvSpPr>
        <p:spPr>
          <a:xfrm flipH="1">
            <a:off x="7765311" y="6242791"/>
            <a:ext cx="2757377" cy="992656"/>
          </a:xfrm>
          <a:custGeom>
            <a:avLst/>
            <a:gdLst/>
            <a:ahLst/>
            <a:cxnLst/>
            <a:rect l="l" t="t" r="r" b="b"/>
            <a:pathLst>
              <a:path w="2757377" h="992656">
                <a:moveTo>
                  <a:pt x="2757378" y="0"/>
                </a:moveTo>
                <a:lnTo>
                  <a:pt x="0" y="0"/>
                </a:lnTo>
                <a:lnTo>
                  <a:pt x="0" y="992656"/>
                </a:lnTo>
                <a:lnTo>
                  <a:pt x="2757378" y="992656"/>
                </a:lnTo>
                <a:lnTo>
                  <a:pt x="2757378"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Freeform 4"/>
          <p:cNvSpPr/>
          <p:nvPr/>
        </p:nvSpPr>
        <p:spPr>
          <a:xfrm>
            <a:off x="1719367" y="3991467"/>
            <a:ext cx="1210623" cy="1233936"/>
          </a:xfrm>
          <a:custGeom>
            <a:avLst/>
            <a:gdLst/>
            <a:ahLst/>
            <a:cxnLst/>
            <a:rect l="l" t="t" r="r" b="b"/>
            <a:pathLst>
              <a:path w="1210623" h="1233936">
                <a:moveTo>
                  <a:pt x="0" y="0"/>
                </a:moveTo>
                <a:lnTo>
                  <a:pt x="1210623" y="0"/>
                </a:lnTo>
                <a:lnTo>
                  <a:pt x="1210623" y="1233936"/>
                </a:lnTo>
                <a:lnTo>
                  <a:pt x="0" y="123393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234634" y="1740698"/>
            <a:ext cx="11818732" cy="1059242"/>
          </a:xfrm>
          <a:prstGeom prst="rect">
            <a:avLst/>
          </a:prstGeom>
        </p:spPr>
        <p:txBody>
          <a:bodyPr lIns="0" tIns="0" rIns="0" bIns="0" rtlCol="0" anchor="t">
            <a:spAutoFit/>
          </a:bodyPr>
          <a:lstStyle/>
          <a:p>
            <a:pPr marL="0" lvl="0" indent="0" algn="ctr">
              <a:lnSpc>
                <a:spcPts val="8162"/>
              </a:lnSpc>
            </a:pPr>
            <a:r>
              <a:rPr lang="en-US" sz="8002" b="1">
                <a:solidFill>
                  <a:srgbClr val="3159BC"/>
                </a:solidFill>
                <a:latin typeface="Readex Pro Bold"/>
                <a:ea typeface="Readex Pro Bold"/>
                <a:cs typeface="Readex Pro Bold"/>
                <a:sym typeface="Readex Pro Bold"/>
              </a:rPr>
              <a:t>System Workflow</a:t>
            </a:r>
          </a:p>
        </p:txBody>
      </p:sp>
      <p:sp>
        <p:nvSpPr>
          <p:cNvPr id="6" name="TextBox 6"/>
          <p:cNvSpPr txBox="1"/>
          <p:nvPr/>
        </p:nvSpPr>
        <p:spPr>
          <a:xfrm>
            <a:off x="3234634" y="3512884"/>
            <a:ext cx="12850797" cy="2244204"/>
          </a:xfrm>
          <a:prstGeom prst="rect">
            <a:avLst/>
          </a:prstGeom>
        </p:spPr>
        <p:txBody>
          <a:bodyPr lIns="0" tIns="0" rIns="0" bIns="0" rtlCol="0" anchor="t">
            <a:spAutoFit/>
          </a:bodyPr>
          <a:lstStyle/>
          <a:p>
            <a:pPr marL="0" lvl="0" indent="0" algn="just">
              <a:lnSpc>
                <a:spcPts val="3511"/>
              </a:lnSpc>
            </a:pPr>
            <a:r>
              <a:rPr lang="en-US" sz="3053" dirty="0">
                <a:solidFill>
                  <a:srgbClr val="3159BC"/>
                </a:solidFill>
                <a:latin typeface="Readex Pro"/>
                <a:ea typeface="Readex Pro"/>
                <a:cs typeface="Readex Pro"/>
                <a:sym typeface="Readex Pro"/>
              </a:rPr>
              <a:t>Steps 1-3: The workflow begins when an Employee or Admin logs into the system using secure authentication. Once logged in, the employee submits a leave application by selecting  dates, and providing a reason. The system then automatically validates the request against the employee's available leave balance.</a:t>
            </a:r>
          </a:p>
        </p:txBody>
      </p:sp>
      <p:sp>
        <p:nvSpPr>
          <p:cNvPr id="7" name="TextBox 7"/>
          <p:cNvSpPr txBox="1"/>
          <p:nvPr/>
        </p:nvSpPr>
        <p:spPr>
          <a:xfrm>
            <a:off x="3234634" y="6427886"/>
            <a:ext cx="12850797" cy="1795363"/>
          </a:xfrm>
          <a:prstGeom prst="rect">
            <a:avLst/>
          </a:prstGeom>
        </p:spPr>
        <p:txBody>
          <a:bodyPr lIns="0" tIns="0" rIns="0" bIns="0" rtlCol="0" anchor="t">
            <a:spAutoFit/>
          </a:bodyPr>
          <a:lstStyle/>
          <a:p>
            <a:pPr marL="0" lvl="0" indent="0" algn="just">
              <a:lnSpc>
                <a:spcPts val="3511"/>
              </a:lnSpc>
            </a:pPr>
            <a:r>
              <a:rPr lang="en-US" sz="3053" dirty="0">
                <a:solidFill>
                  <a:srgbClr val="3159BC"/>
                </a:solidFill>
                <a:latin typeface="Readex Pro"/>
                <a:ea typeface="Readex Pro"/>
                <a:cs typeface="Readex Pro"/>
                <a:sym typeface="Readex Pro"/>
              </a:rPr>
              <a:t>Steps 4-6: After validation, the leave request is routed to the designated Manager for approval or rejection. Upon decision, the system automatically updates the employee's leave records and balance. Finally, the employee see the status of their leave request.</a:t>
            </a:r>
          </a:p>
        </p:txBody>
      </p:sp>
      <p:sp>
        <p:nvSpPr>
          <p:cNvPr id="8" name="Freeform 8"/>
          <p:cNvSpPr/>
          <p:nvPr/>
        </p:nvSpPr>
        <p:spPr>
          <a:xfrm>
            <a:off x="1719367" y="6959249"/>
            <a:ext cx="1210623" cy="1233936"/>
          </a:xfrm>
          <a:custGeom>
            <a:avLst/>
            <a:gdLst/>
            <a:ahLst/>
            <a:cxnLst/>
            <a:rect l="l" t="t" r="r" b="b"/>
            <a:pathLst>
              <a:path w="1210623" h="1233936">
                <a:moveTo>
                  <a:pt x="0" y="0"/>
                </a:moveTo>
                <a:lnTo>
                  <a:pt x="1210623" y="0"/>
                </a:lnTo>
                <a:lnTo>
                  <a:pt x="1210623" y="1233936"/>
                </a:lnTo>
                <a:lnTo>
                  <a:pt x="0" y="1233936"/>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Freeform 4"/>
          <p:cNvSpPr/>
          <p:nvPr/>
        </p:nvSpPr>
        <p:spPr>
          <a:xfrm>
            <a:off x="1992192" y="4050807"/>
            <a:ext cx="849725" cy="910420"/>
          </a:xfrm>
          <a:custGeom>
            <a:avLst/>
            <a:gdLst/>
            <a:ahLst/>
            <a:cxnLst/>
            <a:rect l="l" t="t" r="r" b="b"/>
            <a:pathLst>
              <a:path w="849725" h="910420">
                <a:moveTo>
                  <a:pt x="0" y="0"/>
                </a:moveTo>
                <a:lnTo>
                  <a:pt x="849726" y="0"/>
                </a:lnTo>
                <a:lnTo>
                  <a:pt x="849726" y="910420"/>
                </a:lnTo>
                <a:lnTo>
                  <a:pt x="0" y="910420"/>
                </a:lnTo>
                <a:lnTo>
                  <a:pt x="0" y="0"/>
                </a:lnTo>
                <a:close/>
              </a:path>
            </a:pathLst>
          </a:custGeom>
          <a:blipFill>
            <a:blip r:embed="rId3"/>
            <a:stretch>
              <a:fillRect/>
            </a:stretch>
          </a:blipFill>
        </p:spPr>
      </p:sp>
      <p:sp>
        <p:nvSpPr>
          <p:cNvPr id="5" name="TextBox 5"/>
          <p:cNvSpPr txBox="1"/>
          <p:nvPr/>
        </p:nvSpPr>
        <p:spPr>
          <a:xfrm>
            <a:off x="3234634" y="1181100"/>
            <a:ext cx="11818732" cy="1059371"/>
          </a:xfrm>
          <a:prstGeom prst="rect">
            <a:avLst/>
          </a:prstGeom>
        </p:spPr>
        <p:txBody>
          <a:bodyPr lIns="0" tIns="0" rIns="0" bIns="0" rtlCol="0" anchor="t">
            <a:spAutoFit/>
          </a:bodyPr>
          <a:lstStyle/>
          <a:p>
            <a:pPr marL="0" lvl="0" indent="0" algn="ctr">
              <a:lnSpc>
                <a:spcPts val="8168"/>
              </a:lnSpc>
            </a:pPr>
            <a:r>
              <a:rPr lang="en-US" sz="8008" b="1">
                <a:solidFill>
                  <a:srgbClr val="3159BC"/>
                </a:solidFill>
                <a:latin typeface="Readex Pro Bold"/>
                <a:ea typeface="Readex Pro Bold"/>
                <a:cs typeface="Readex Pro Bold"/>
                <a:sym typeface="Readex Pro Bold"/>
              </a:rPr>
              <a:t>Technology Stack</a:t>
            </a:r>
          </a:p>
        </p:txBody>
      </p:sp>
      <p:sp>
        <p:nvSpPr>
          <p:cNvPr id="6" name="TextBox 6"/>
          <p:cNvSpPr txBox="1"/>
          <p:nvPr/>
        </p:nvSpPr>
        <p:spPr>
          <a:xfrm>
            <a:off x="3234634" y="3819173"/>
            <a:ext cx="13189730" cy="897682"/>
          </a:xfrm>
          <a:prstGeom prst="rect">
            <a:avLst/>
          </a:prstGeom>
        </p:spPr>
        <p:txBody>
          <a:bodyPr lIns="0" tIns="0" rIns="0" bIns="0" rtlCol="0" anchor="t">
            <a:spAutoFit/>
          </a:bodyPr>
          <a:lstStyle/>
          <a:p>
            <a:pPr marL="0" lvl="0" indent="0" algn="just">
              <a:lnSpc>
                <a:spcPts val="3513"/>
              </a:lnSpc>
            </a:pPr>
            <a:r>
              <a:rPr lang="en-US" sz="3055" dirty="0">
                <a:solidFill>
                  <a:srgbClr val="3159BC"/>
                </a:solidFill>
                <a:latin typeface="Readex Pro"/>
                <a:ea typeface="Readex Pro"/>
                <a:cs typeface="Readex Pro"/>
                <a:sym typeface="Readex Pro"/>
              </a:rPr>
              <a:t>Frontend: HTML, CSS, JSP for responsive and interactive user interface design with modern web standards.</a:t>
            </a:r>
          </a:p>
        </p:txBody>
      </p:sp>
      <p:sp>
        <p:nvSpPr>
          <p:cNvPr id="7" name="TextBox 7"/>
          <p:cNvSpPr txBox="1"/>
          <p:nvPr/>
        </p:nvSpPr>
        <p:spPr>
          <a:xfrm>
            <a:off x="3234634" y="5436087"/>
            <a:ext cx="13189730" cy="897682"/>
          </a:xfrm>
          <a:prstGeom prst="rect">
            <a:avLst/>
          </a:prstGeom>
        </p:spPr>
        <p:txBody>
          <a:bodyPr lIns="0" tIns="0" rIns="0" bIns="0" rtlCol="0" anchor="t">
            <a:spAutoFit/>
          </a:bodyPr>
          <a:lstStyle/>
          <a:p>
            <a:pPr marL="0" lvl="0" indent="0" algn="just">
              <a:lnSpc>
                <a:spcPts val="3513"/>
              </a:lnSpc>
            </a:pPr>
            <a:r>
              <a:rPr lang="en-US" sz="3055" dirty="0">
                <a:solidFill>
                  <a:srgbClr val="3159BC"/>
                </a:solidFill>
                <a:latin typeface="Readex Pro"/>
                <a:ea typeface="Readex Pro"/>
                <a:cs typeface="Readex Pro"/>
                <a:sym typeface="Readex Pro"/>
              </a:rPr>
              <a:t>Backend: Java (Servlets/JSP) for server-side logic and business process handling.</a:t>
            </a:r>
          </a:p>
        </p:txBody>
      </p:sp>
      <p:sp>
        <p:nvSpPr>
          <p:cNvPr id="8" name="TextBox 8"/>
          <p:cNvSpPr txBox="1"/>
          <p:nvPr/>
        </p:nvSpPr>
        <p:spPr>
          <a:xfrm>
            <a:off x="3234634" y="7053002"/>
            <a:ext cx="13189730" cy="8861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Database: MySQL for reliable data storage with MVC (Model-View-Controller) architecture pattern.</a:t>
            </a:r>
          </a:p>
        </p:txBody>
      </p:sp>
      <p:sp>
        <p:nvSpPr>
          <p:cNvPr id="9" name="Freeform 9"/>
          <p:cNvSpPr/>
          <p:nvPr/>
        </p:nvSpPr>
        <p:spPr>
          <a:xfrm>
            <a:off x="2036549" y="5556048"/>
            <a:ext cx="846608" cy="1049317"/>
          </a:xfrm>
          <a:custGeom>
            <a:avLst/>
            <a:gdLst/>
            <a:ahLst/>
            <a:cxnLst/>
            <a:rect l="l" t="t" r="r" b="b"/>
            <a:pathLst>
              <a:path w="846608" h="1049317">
                <a:moveTo>
                  <a:pt x="0" y="0"/>
                </a:moveTo>
                <a:lnTo>
                  <a:pt x="846607" y="0"/>
                </a:lnTo>
                <a:lnTo>
                  <a:pt x="846607" y="1049316"/>
                </a:lnTo>
                <a:lnTo>
                  <a:pt x="0" y="1049316"/>
                </a:lnTo>
                <a:lnTo>
                  <a:pt x="0" y="0"/>
                </a:lnTo>
                <a:close/>
              </a:path>
            </a:pathLst>
          </a:custGeom>
          <a:blipFill>
            <a:blip r:embed="rId4"/>
            <a:stretch>
              <a:fillRect/>
            </a:stretch>
          </a:blipFill>
        </p:spPr>
      </p:sp>
      <p:sp>
        <p:nvSpPr>
          <p:cNvPr id="10" name="Freeform 10"/>
          <p:cNvSpPr/>
          <p:nvPr/>
        </p:nvSpPr>
        <p:spPr>
          <a:xfrm>
            <a:off x="1881652" y="7212960"/>
            <a:ext cx="1064946" cy="987495"/>
          </a:xfrm>
          <a:custGeom>
            <a:avLst/>
            <a:gdLst/>
            <a:ahLst/>
            <a:cxnLst/>
            <a:rect l="l" t="t" r="r" b="b"/>
            <a:pathLst>
              <a:path w="1064946" h="987495">
                <a:moveTo>
                  <a:pt x="0" y="0"/>
                </a:moveTo>
                <a:lnTo>
                  <a:pt x="1064946" y="0"/>
                </a:lnTo>
                <a:lnTo>
                  <a:pt x="1064946" y="987495"/>
                </a:lnTo>
                <a:lnTo>
                  <a:pt x="0" y="987495"/>
                </a:lnTo>
                <a:lnTo>
                  <a:pt x="0" y="0"/>
                </a:lnTo>
                <a:close/>
              </a:path>
            </a:pathLst>
          </a:custGeom>
          <a:blipFill>
            <a:blip r:embed="rId5"/>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pic>
        <p:nvPicPr>
          <p:cNvPr id="4" name="Picture 4"/>
          <p:cNvPicPr>
            <a:picLocks noChangeAspect="1"/>
          </p:cNvPicPr>
          <p:nvPr/>
        </p:nvPicPr>
        <p:blipFill>
          <a:blip r:embed="rId3"/>
          <a:stretch>
            <a:fillRect/>
          </a:stretch>
        </p:blipFill>
        <p:spPr>
          <a:xfrm>
            <a:off x="1317827" y="3207608"/>
            <a:ext cx="5685731" cy="6108270"/>
          </a:xfrm>
          <a:prstGeom prst="rect">
            <a:avLst/>
          </a:prstGeom>
        </p:spPr>
      </p:pic>
      <p:sp>
        <p:nvSpPr>
          <p:cNvPr id="5" name="TextBox 5"/>
          <p:cNvSpPr txBox="1"/>
          <p:nvPr/>
        </p:nvSpPr>
        <p:spPr>
          <a:xfrm>
            <a:off x="7268637" y="3726155"/>
            <a:ext cx="8817672" cy="4008434"/>
          </a:xfrm>
          <a:prstGeom prst="rect">
            <a:avLst/>
          </a:prstGeom>
        </p:spPr>
        <p:txBody>
          <a:bodyPr lIns="0" tIns="0" rIns="0" bIns="0" rtlCol="0" anchor="t">
            <a:spAutoFit/>
          </a:bodyPr>
          <a:lstStyle/>
          <a:p>
            <a:pPr marL="0" lvl="0" indent="0" algn="just">
              <a:lnSpc>
                <a:spcPts val="3161"/>
              </a:lnSpc>
            </a:pPr>
            <a:r>
              <a:rPr lang="en-US" sz="2749">
                <a:solidFill>
                  <a:srgbClr val="3159BC"/>
                </a:solidFill>
                <a:latin typeface="Readex Pro"/>
                <a:ea typeface="Readex Pro"/>
                <a:cs typeface="Readex Pro"/>
                <a:sym typeface="Readex Pro"/>
              </a:rPr>
              <a:t>The system follows the MVC (Model-View-Controller) architecture pattern, ensuring clear separation of concerns:</a:t>
            </a:r>
          </a:p>
          <a:p>
            <a:pPr marL="0" lvl="0" indent="0" algn="just">
              <a:lnSpc>
                <a:spcPts val="3161"/>
              </a:lnSpc>
            </a:pPr>
            <a:r>
              <a:rPr lang="en-US" sz="2749">
                <a:solidFill>
                  <a:srgbClr val="3159BC"/>
                </a:solidFill>
                <a:latin typeface="Readex Pro"/>
                <a:ea typeface="Readex Pro"/>
                <a:cs typeface="Readex Pro"/>
                <a:sym typeface="Readex Pro"/>
              </a:rPr>
              <a:t>• User Interface Layer: Handles all user interactions and displays</a:t>
            </a:r>
          </a:p>
          <a:p>
            <a:pPr marL="0" lvl="0" indent="0" algn="just">
              <a:lnSpc>
                <a:spcPts val="3161"/>
              </a:lnSpc>
            </a:pPr>
            <a:r>
              <a:rPr lang="en-US" sz="2749">
                <a:solidFill>
                  <a:srgbClr val="3159BC"/>
                </a:solidFill>
                <a:latin typeface="Readex Pro"/>
                <a:ea typeface="Readex Pro"/>
                <a:cs typeface="Readex Pro"/>
                <a:sym typeface="Readex Pro"/>
              </a:rPr>
              <a:t>• Application Server Layer: Processes business logic and requests</a:t>
            </a:r>
          </a:p>
          <a:p>
            <a:pPr marL="0" lvl="0" indent="0" algn="just">
              <a:lnSpc>
                <a:spcPts val="3161"/>
              </a:lnSpc>
            </a:pPr>
            <a:r>
              <a:rPr lang="en-US" sz="2749">
                <a:solidFill>
                  <a:srgbClr val="3159BC"/>
                </a:solidFill>
                <a:latin typeface="Readex Pro"/>
                <a:ea typeface="Readex Pro"/>
                <a:cs typeface="Readex Pro"/>
                <a:sym typeface="Readex Pro"/>
              </a:rPr>
              <a:t>• Database Layer: Stores and manages all system data</a:t>
            </a:r>
          </a:p>
          <a:p>
            <a:pPr marL="0" lvl="0" indent="0" algn="just">
              <a:lnSpc>
                <a:spcPts val="3161"/>
              </a:lnSpc>
            </a:pPr>
            <a:r>
              <a:rPr lang="en-US" sz="2749">
                <a:solidFill>
                  <a:srgbClr val="3159BC"/>
                </a:solidFill>
                <a:latin typeface="Readex Pro"/>
                <a:ea typeface="Readex Pro"/>
                <a:cs typeface="Readex Pro"/>
                <a:sym typeface="Readex Pro"/>
              </a:rPr>
              <a:t>Interaction Flow: User → Server → Database</a:t>
            </a:r>
          </a:p>
        </p:txBody>
      </p:sp>
      <p:sp>
        <p:nvSpPr>
          <p:cNvPr id="6" name="TextBox 6"/>
          <p:cNvSpPr txBox="1"/>
          <p:nvPr/>
        </p:nvSpPr>
        <p:spPr>
          <a:xfrm>
            <a:off x="2808092" y="1740698"/>
            <a:ext cx="12671817" cy="1059242"/>
          </a:xfrm>
          <a:prstGeom prst="rect">
            <a:avLst/>
          </a:prstGeom>
        </p:spPr>
        <p:txBody>
          <a:bodyPr lIns="0" tIns="0" rIns="0" bIns="0" rtlCol="0" anchor="t">
            <a:spAutoFit/>
          </a:bodyPr>
          <a:lstStyle/>
          <a:p>
            <a:pPr marL="0" lvl="0" indent="0" algn="ctr">
              <a:lnSpc>
                <a:spcPts val="8162"/>
              </a:lnSpc>
            </a:pPr>
            <a:r>
              <a:rPr lang="en-US" sz="8002" b="1">
                <a:solidFill>
                  <a:srgbClr val="3159BC"/>
                </a:solidFill>
                <a:latin typeface="Readex Pro Bold"/>
                <a:ea typeface="Readex Pro Bold"/>
                <a:cs typeface="Readex Pro Bold"/>
                <a:sym typeface="Readex Pro Bold"/>
              </a:rPr>
              <a:t>Architecture Diagram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TextBox 4"/>
          <p:cNvSpPr txBox="1"/>
          <p:nvPr/>
        </p:nvSpPr>
        <p:spPr>
          <a:xfrm>
            <a:off x="4388598" y="3381023"/>
            <a:ext cx="11057897" cy="132432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Employee login system with secure authentication</a:t>
            </a:r>
          </a:p>
          <a:p>
            <a:pPr marL="0" lvl="0" indent="0" algn="just">
              <a:lnSpc>
                <a:spcPts val="3513"/>
              </a:lnSpc>
            </a:pPr>
            <a:r>
              <a:rPr lang="en-US" sz="3055">
                <a:solidFill>
                  <a:srgbClr val="3159BC"/>
                </a:solidFill>
                <a:latin typeface="Readex Pro"/>
                <a:ea typeface="Readex Pro"/>
                <a:cs typeface="Readex Pro"/>
                <a:sym typeface="Readex Pro"/>
              </a:rPr>
              <a:t>Leave request submission with flexible date selection</a:t>
            </a:r>
          </a:p>
          <a:p>
            <a:pPr marL="0" lvl="0" indent="0" algn="just">
              <a:lnSpc>
                <a:spcPts val="3513"/>
              </a:lnSpc>
            </a:pPr>
            <a:r>
              <a:rPr lang="en-US" sz="3055">
                <a:solidFill>
                  <a:srgbClr val="3159BC"/>
                </a:solidFill>
                <a:latin typeface="Readex Pro"/>
                <a:ea typeface="Readex Pro"/>
                <a:cs typeface="Readex Pro"/>
                <a:sym typeface="Readex Pro"/>
              </a:rPr>
              <a:t>Real-time leave balance tracking and display</a:t>
            </a:r>
          </a:p>
        </p:txBody>
      </p:sp>
      <p:sp>
        <p:nvSpPr>
          <p:cNvPr id="5" name="Freeform 5"/>
          <p:cNvSpPr/>
          <p:nvPr/>
        </p:nvSpPr>
        <p:spPr>
          <a:xfrm>
            <a:off x="2637745" y="3923095"/>
            <a:ext cx="1193779" cy="1106958"/>
          </a:xfrm>
          <a:custGeom>
            <a:avLst/>
            <a:gdLst/>
            <a:ahLst/>
            <a:cxnLst/>
            <a:rect l="l" t="t" r="r" b="b"/>
            <a:pathLst>
              <a:path w="1193779" h="1106958">
                <a:moveTo>
                  <a:pt x="0" y="0"/>
                </a:moveTo>
                <a:lnTo>
                  <a:pt x="1193778" y="0"/>
                </a:lnTo>
                <a:lnTo>
                  <a:pt x="1193778" y="1106958"/>
                </a:lnTo>
                <a:lnTo>
                  <a:pt x="0" y="11069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234634" y="1740698"/>
            <a:ext cx="11818732" cy="1059242"/>
          </a:xfrm>
          <a:prstGeom prst="rect">
            <a:avLst/>
          </a:prstGeom>
        </p:spPr>
        <p:txBody>
          <a:bodyPr lIns="0" tIns="0" rIns="0" bIns="0" rtlCol="0" anchor="t">
            <a:spAutoFit/>
          </a:bodyPr>
          <a:lstStyle/>
          <a:p>
            <a:pPr marL="0" lvl="0" indent="0" algn="ctr">
              <a:lnSpc>
                <a:spcPts val="8162"/>
              </a:lnSpc>
            </a:pPr>
            <a:r>
              <a:rPr lang="en-US" sz="8002" b="1">
                <a:solidFill>
                  <a:srgbClr val="3159BC"/>
                </a:solidFill>
                <a:latin typeface="Readex Pro Bold"/>
                <a:ea typeface="Readex Pro Bold"/>
                <a:cs typeface="Readex Pro Bold"/>
                <a:sym typeface="Readex Pro Bold"/>
              </a:rPr>
              <a:t>Core Features</a:t>
            </a:r>
          </a:p>
        </p:txBody>
      </p:sp>
      <p:sp>
        <p:nvSpPr>
          <p:cNvPr id="7" name="TextBox 7"/>
          <p:cNvSpPr txBox="1"/>
          <p:nvPr/>
        </p:nvSpPr>
        <p:spPr>
          <a:xfrm>
            <a:off x="4388598" y="6162675"/>
            <a:ext cx="11057897" cy="1795363"/>
          </a:xfrm>
          <a:prstGeom prst="rect">
            <a:avLst/>
          </a:prstGeom>
        </p:spPr>
        <p:txBody>
          <a:bodyPr lIns="0" tIns="0" rIns="0" bIns="0" rtlCol="0" anchor="t">
            <a:spAutoFit/>
          </a:bodyPr>
          <a:lstStyle/>
          <a:p>
            <a:pPr marL="0" lvl="0" indent="0" algn="just">
              <a:lnSpc>
                <a:spcPts val="3513"/>
              </a:lnSpc>
            </a:pPr>
            <a:r>
              <a:rPr lang="en-US" sz="3055" dirty="0">
                <a:solidFill>
                  <a:srgbClr val="3159BC"/>
                </a:solidFill>
                <a:latin typeface="Readex Pro"/>
                <a:ea typeface="Readex Pro"/>
                <a:cs typeface="Readex Pro"/>
                <a:sym typeface="Readex Pro"/>
              </a:rPr>
              <a:t>Manager approval/rejection workflow system</a:t>
            </a:r>
          </a:p>
          <a:p>
            <a:pPr marL="0" lvl="0" indent="0" algn="just">
              <a:lnSpc>
                <a:spcPts val="3513"/>
              </a:lnSpc>
            </a:pPr>
            <a:r>
              <a:rPr lang="en-US" sz="3055" dirty="0">
                <a:solidFill>
                  <a:srgbClr val="3159BC"/>
                </a:solidFill>
                <a:latin typeface="Readex Pro"/>
                <a:ea typeface="Readex Pro"/>
                <a:cs typeface="Readex Pro"/>
                <a:sym typeface="Readex Pro"/>
              </a:rPr>
              <a:t>Comprehensive admin dashboard for monitoring all records</a:t>
            </a:r>
          </a:p>
          <a:p>
            <a:pPr lvl="0" algn="just">
              <a:lnSpc>
                <a:spcPts val="3513"/>
              </a:lnSpc>
            </a:pPr>
            <a:r>
              <a:rPr lang="en-US" sz="3055" dirty="0">
                <a:solidFill>
                  <a:srgbClr val="3159BC"/>
                </a:solidFill>
                <a:latin typeface="Readex Pro"/>
                <a:ea typeface="Readex Pro"/>
                <a:cs typeface="Readex Pro"/>
                <a:sym typeface="Readex Pro"/>
              </a:rPr>
              <a:t>When manager approval/rejection leave status updates.</a:t>
            </a:r>
          </a:p>
        </p:txBody>
      </p:sp>
      <p:sp>
        <p:nvSpPr>
          <p:cNvPr id="8" name="Freeform 8"/>
          <p:cNvSpPr/>
          <p:nvPr/>
        </p:nvSpPr>
        <p:spPr>
          <a:xfrm>
            <a:off x="2858266" y="6469259"/>
            <a:ext cx="1193779" cy="1106958"/>
          </a:xfrm>
          <a:custGeom>
            <a:avLst/>
            <a:gdLst/>
            <a:ahLst/>
            <a:cxnLst/>
            <a:rect l="l" t="t" r="r" b="b"/>
            <a:pathLst>
              <a:path w="1193779" h="1106958">
                <a:moveTo>
                  <a:pt x="0" y="0"/>
                </a:moveTo>
                <a:lnTo>
                  <a:pt x="1193779" y="0"/>
                </a:lnTo>
                <a:lnTo>
                  <a:pt x="1193779" y="1106958"/>
                </a:lnTo>
                <a:lnTo>
                  <a:pt x="0" y="1106958"/>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Freeform 4"/>
          <p:cNvSpPr/>
          <p:nvPr/>
        </p:nvSpPr>
        <p:spPr>
          <a:xfrm>
            <a:off x="7765311" y="4753808"/>
            <a:ext cx="2757377" cy="992656"/>
          </a:xfrm>
          <a:custGeom>
            <a:avLst/>
            <a:gdLst/>
            <a:ahLst/>
            <a:cxnLst/>
            <a:rect l="l" t="t" r="r" b="b"/>
            <a:pathLst>
              <a:path w="2757377" h="992656">
                <a:moveTo>
                  <a:pt x="0" y="0"/>
                </a:moveTo>
                <a:lnTo>
                  <a:pt x="2757378" y="0"/>
                </a:lnTo>
                <a:lnTo>
                  <a:pt x="2757378" y="992656"/>
                </a:lnTo>
                <a:lnTo>
                  <a:pt x="0" y="99265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234634" y="1740698"/>
            <a:ext cx="11818732" cy="1059242"/>
          </a:xfrm>
          <a:prstGeom prst="rect">
            <a:avLst/>
          </a:prstGeom>
        </p:spPr>
        <p:txBody>
          <a:bodyPr lIns="0" tIns="0" rIns="0" bIns="0" rtlCol="0" anchor="t">
            <a:spAutoFit/>
          </a:bodyPr>
          <a:lstStyle/>
          <a:p>
            <a:pPr marL="0" lvl="0" indent="0" algn="ctr">
              <a:lnSpc>
                <a:spcPts val="8162"/>
              </a:lnSpc>
            </a:pPr>
            <a:r>
              <a:rPr lang="en-US" sz="8002" b="1">
                <a:solidFill>
                  <a:srgbClr val="3159BC"/>
                </a:solidFill>
                <a:latin typeface="Readex Pro Bold"/>
                <a:ea typeface="Readex Pro Bold"/>
                <a:cs typeface="Readex Pro Bold"/>
                <a:sym typeface="Readex Pro Bold"/>
              </a:rPr>
              <a:t>Database Design</a:t>
            </a:r>
          </a:p>
        </p:txBody>
      </p:sp>
      <p:sp>
        <p:nvSpPr>
          <p:cNvPr id="6" name="TextBox 6"/>
          <p:cNvSpPr txBox="1"/>
          <p:nvPr/>
        </p:nvSpPr>
        <p:spPr>
          <a:xfrm>
            <a:off x="11017989" y="3623240"/>
            <a:ext cx="5188947" cy="4796185"/>
          </a:xfrm>
          <a:prstGeom prst="rect">
            <a:avLst/>
          </a:prstGeom>
        </p:spPr>
        <p:txBody>
          <a:bodyPr lIns="0" tIns="0" rIns="0" bIns="0" rtlCol="0" anchor="t">
            <a:spAutoFit/>
          </a:bodyPr>
          <a:lstStyle/>
          <a:p>
            <a:pPr marL="0" lvl="0" indent="0" algn="just">
              <a:lnSpc>
                <a:spcPts val="3363"/>
              </a:lnSpc>
            </a:pPr>
            <a:r>
              <a:rPr lang="en-US" sz="2925" dirty="0">
                <a:solidFill>
                  <a:srgbClr val="3159BC"/>
                </a:solidFill>
                <a:latin typeface="Readex Pro"/>
                <a:ea typeface="Readex Pro"/>
                <a:cs typeface="Readex Pro"/>
                <a:sym typeface="Readex Pro"/>
              </a:rPr>
              <a:t>Leave Balance Table</a:t>
            </a:r>
          </a:p>
          <a:p>
            <a:pPr marL="0" lvl="0" indent="0" algn="just">
              <a:lnSpc>
                <a:spcPts val="3363"/>
              </a:lnSpc>
            </a:pPr>
            <a:r>
              <a:rPr lang="en-US" sz="2925" dirty="0">
                <a:solidFill>
                  <a:srgbClr val="3159BC"/>
                </a:solidFill>
                <a:latin typeface="Readex Pro"/>
                <a:ea typeface="Readex Pro"/>
                <a:cs typeface="Readex Pro"/>
                <a:sym typeface="Readex Pro"/>
              </a:rPr>
              <a:t>• Employee ID (Foreign Key)</a:t>
            </a:r>
          </a:p>
          <a:p>
            <a:pPr marL="0" lvl="0" indent="0" algn="just">
              <a:lnSpc>
                <a:spcPts val="3363"/>
              </a:lnSpc>
            </a:pPr>
            <a:r>
              <a:rPr lang="en-US" sz="2925" dirty="0">
                <a:solidFill>
                  <a:srgbClr val="3159BC"/>
                </a:solidFill>
                <a:latin typeface="Readex Pro"/>
                <a:ea typeface="Readex Pro"/>
                <a:cs typeface="Readex Pro"/>
                <a:sym typeface="Readex Pro"/>
              </a:rPr>
              <a:t>• Total Days, Used Days</a:t>
            </a:r>
          </a:p>
          <a:p>
            <a:pPr marL="0" lvl="0" indent="0" algn="just">
              <a:lnSpc>
                <a:spcPts val="3363"/>
              </a:lnSpc>
            </a:pPr>
            <a:r>
              <a:rPr lang="en-US" sz="2925" dirty="0">
                <a:solidFill>
                  <a:srgbClr val="3159BC"/>
                </a:solidFill>
                <a:latin typeface="Readex Pro"/>
                <a:ea typeface="Readex Pro"/>
                <a:cs typeface="Readex Pro"/>
                <a:sym typeface="Readex Pro"/>
              </a:rPr>
              <a:t>• Remaining Days</a:t>
            </a:r>
          </a:p>
          <a:p>
            <a:pPr marL="0" lvl="0" indent="0" algn="just">
              <a:lnSpc>
                <a:spcPts val="3363"/>
              </a:lnSpc>
            </a:pPr>
            <a:r>
              <a:rPr lang="en-US" sz="2925" dirty="0">
                <a:solidFill>
                  <a:srgbClr val="3159BC"/>
                </a:solidFill>
                <a:latin typeface="Readex Pro"/>
                <a:ea typeface="Readex Pro"/>
                <a:cs typeface="Readex Pro"/>
                <a:sym typeface="Readex Pro"/>
              </a:rPr>
              <a:t>Relationships</a:t>
            </a:r>
          </a:p>
          <a:p>
            <a:pPr marL="0" lvl="0" indent="0" algn="just">
              <a:lnSpc>
                <a:spcPts val="3363"/>
              </a:lnSpc>
            </a:pPr>
            <a:r>
              <a:rPr lang="en-US" sz="2925" dirty="0">
                <a:solidFill>
                  <a:srgbClr val="3159BC"/>
                </a:solidFill>
                <a:latin typeface="Readex Pro"/>
                <a:ea typeface="Readex Pro"/>
                <a:cs typeface="Readex Pro"/>
                <a:sym typeface="Readex Pro"/>
              </a:rPr>
              <a:t>• Employee ID links all three tables</a:t>
            </a:r>
          </a:p>
          <a:p>
            <a:pPr marL="0" lvl="0" indent="0" algn="just">
              <a:lnSpc>
                <a:spcPts val="3363"/>
              </a:lnSpc>
            </a:pPr>
            <a:r>
              <a:rPr lang="en-US" sz="2925" dirty="0">
                <a:solidFill>
                  <a:srgbClr val="3159BC"/>
                </a:solidFill>
                <a:latin typeface="Readex Pro"/>
                <a:ea typeface="Readex Pro"/>
                <a:cs typeface="Readex Pro"/>
                <a:sym typeface="Readex Pro"/>
              </a:rPr>
              <a:t>• One-to-Many: Employee → Requests</a:t>
            </a:r>
          </a:p>
          <a:p>
            <a:pPr marL="0" lvl="0" indent="0" algn="just">
              <a:lnSpc>
                <a:spcPts val="3363"/>
              </a:lnSpc>
            </a:pPr>
            <a:r>
              <a:rPr lang="en-US" sz="2925" dirty="0">
                <a:solidFill>
                  <a:srgbClr val="3159BC"/>
                </a:solidFill>
                <a:latin typeface="Readex Pro"/>
                <a:ea typeface="Readex Pro"/>
                <a:cs typeface="Readex Pro"/>
                <a:sym typeface="Readex Pro"/>
              </a:rPr>
              <a:t>• One-to-Many: Employee → Balance</a:t>
            </a:r>
          </a:p>
        </p:txBody>
      </p:sp>
      <p:sp>
        <p:nvSpPr>
          <p:cNvPr id="7" name="TextBox 7"/>
          <p:cNvSpPr txBox="1"/>
          <p:nvPr/>
        </p:nvSpPr>
        <p:spPr>
          <a:xfrm>
            <a:off x="2081065" y="3623240"/>
            <a:ext cx="5188947" cy="4360168"/>
          </a:xfrm>
          <a:prstGeom prst="rect">
            <a:avLst/>
          </a:prstGeom>
        </p:spPr>
        <p:txBody>
          <a:bodyPr lIns="0" tIns="0" rIns="0" bIns="0" rtlCol="0" anchor="t">
            <a:spAutoFit/>
          </a:bodyPr>
          <a:lstStyle/>
          <a:p>
            <a:pPr marL="0" lvl="0" indent="0" algn="just">
              <a:lnSpc>
                <a:spcPts val="3363"/>
              </a:lnSpc>
            </a:pPr>
            <a:r>
              <a:rPr lang="en-US" sz="2925" dirty="0">
                <a:solidFill>
                  <a:srgbClr val="3159BC"/>
                </a:solidFill>
                <a:latin typeface="Readex Pro"/>
                <a:ea typeface="Readex Pro"/>
                <a:cs typeface="Readex Pro"/>
                <a:sym typeface="Readex Pro"/>
              </a:rPr>
              <a:t>Employee Table</a:t>
            </a:r>
          </a:p>
          <a:p>
            <a:pPr marL="0" lvl="0" indent="0" algn="just">
              <a:lnSpc>
                <a:spcPts val="3363"/>
              </a:lnSpc>
            </a:pPr>
            <a:r>
              <a:rPr lang="en-US" sz="2925" dirty="0">
                <a:solidFill>
                  <a:srgbClr val="3159BC"/>
                </a:solidFill>
                <a:latin typeface="Readex Pro"/>
                <a:ea typeface="Readex Pro"/>
                <a:cs typeface="Readex Pro"/>
                <a:sym typeface="Readex Pro"/>
              </a:rPr>
              <a:t>• Employee ID (Primary Key)</a:t>
            </a:r>
          </a:p>
          <a:p>
            <a:pPr marL="0" lvl="0" indent="0" algn="just">
              <a:lnSpc>
                <a:spcPts val="3363"/>
              </a:lnSpc>
            </a:pPr>
            <a:r>
              <a:rPr lang="en-US" sz="2925" dirty="0">
                <a:solidFill>
                  <a:srgbClr val="3159BC"/>
                </a:solidFill>
                <a:latin typeface="Readex Pro"/>
                <a:ea typeface="Readex Pro"/>
                <a:cs typeface="Readex Pro"/>
                <a:sym typeface="Readex Pro"/>
              </a:rPr>
              <a:t>• Name, Email, Department</a:t>
            </a:r>
          </a:p>
          <a:p>
            <a:pPr marL="0" lvl="0" indent="0" algn="just">
              <a:lnSpc>
                <a:spcPts val="3363"/>
              </a:lnSpc>
            </a:pPr>
            <a:r>
              <a:rPr lang="en-US" sz="2925" dirty="0">
                <a:solidFill>
                  <a:srgbClr val="3159BC"/>
                </a:solidFill>
                <a:latin typeface="Readex Pro"/>
                <a:ea typeface="Readex Pro"/>
                <a:cs typeface="Readex Pro"/>
                <a:sym typeface="Readex Pro"/>
              </a:rPr>
              <a:t>•Role </a:t>
            </a:r>
          </a:p>
          <a:p>
            <a:pPr marL="0" lvl="0" indent="0" algn="just">
              <a:lnSpc>
                <a:spcPts val="3363"/>
              </a:lnSpc>
            </a:pPr>
            <a:r>
              <a:rPr lang="en-US" sz="2925" dirty="0">
                <a:solidFill>
                  <a:srgbClr val="3159BC"/>
                </a:solidFill>
                <a:latin typeface="Readex Pro"/>
                <a:ea typeface="Readex Pro"/>
                <a:cs typeface="Readex Pro"/>
                <a:sym typeface="Readex Pro"/>
              </a:rPr>
              <a:t>(Manager/Admin)</a:t>
            </a:r>
          </a:p>
          <a:p>
            <a:pPr marL="0" lvl="0" indent="0" algn="just">
              <a:lnSpc>
                <a:spcPts val="3363"/>
              </a:lnSpc>
            </a:pPr>
            <a:r>
              <a:rPr lang="en-US" sz="2925" dirty="0">
                <a:solidFill>
                  <a:srgbClr val="3159BC"/>
                </a:solidFill>
                <a:latin typeface="Readex Pro"/>
                <a:ea typeface="Readex Pro"/>
                <a:cs typeface="Readex Pro"/>
                <a:sym typeface="Readex Pro"/>
              </a:rPr>
              <a:t>Leave Requests Table</a:t>
            </a:r>
          </a:p>
          <a:p>
            <a:pPr marL="0" lvl="0" indent="0" algn="just">
              <a:lnSpc>
                <a:spcPts val="3363"/>
              </a:lnSpc>
            </a:pPr>
            <a:r>
              <a:rPr lang="en-US" sz="2925" dirty="0">
                <a:solidFill>
                  <a:srgbClr val="3159BC"/>
                </a:solidFill>
                <a:latin typeface="Readex Pro"/>
                <a:ea typeface="Readex Pro"/>
                <a:cs typeface="Readex Pro"/>
                <a:sym typeface="Readex Pro"/>
              </a:rPr>
              <a:t>• Request ID (Primary Key)</a:t>
            </a:r>
          </a:p>
          <a:p>
            <a:pPr marL="0" lvl="0" indent="0" algn="just">
              <a:lnSpc>
                <a:spcPts val="3363"/>
              </a:lnSpc>
            </a:pPr>
            <a:r>
              <a:rPr lang="en-US" sz="2925" dirty="0">
                <a:solidFill>
                  <a:srgbClr val="3159BC"/>
                </a:solidFill>
                <a:latin typeface="Readex Pro"/>
                <a:ea typeface="Readex Pro"/>
                <a:cs typeface="Readex Pro"/>
                <a:sym typeface="Readex Pro"/>
              </a:rPr>
              <a:t>• Employee ID (Foreign Key)</a:t>
            </a:r>
          </a:p>
          <a:p>
            <a:pPr marL="0" lvl="0" indent="0" algn="just">
              <a:lnSpc>
                <a:spcPts val="3363"/>
              </a:lnSpc>
            </a:pPr>
            <a:r>
              <a:rPr lang="en-US" sz="2925" dirty="0">
                <a:solidFill>
                  <a:srgbClr val="3159BC"/>
                </a:solidFill>
                <a:latin typeface="Readex Pro"/>
                <a:ea typeface="Readex Pro"/>
                <a:cs typeface="Readex Pro"/>
                <a:sym typeface="Readex Pro"/>
              </a:rPr>
              <a:t>• Start/End Date</a:t>
            </a:r>
          </a:p>
          <a:p>
            <a:pPr marL="0" lvl="0" indent="0" algn="just">
              <a:lnSpc>
                <a:spcPts val="3363"/>
              </a:lnSpc>
            </a:pPr>
            <a:r>
              <a:rPr lang="en-US" sz="2925" dirty="0">
                <a:solidFill>
                  <a:srgbClr val="3159BC"/>
                </a:solidFill>
                <a:latin typeface="Readex Pro"/>
                <a:ea typeface="Readex Pro"/>
                <a:cs typeface="Readex Pro"/>
                <a:sym typeface="Readex Pro"/>
              </a:rPr>
              <a:t>• Status, Reason</a:t>
            </a:r>
          </a:p>
        </p:txBody>
      </p:sp>
      <p:sp>
        <p:nvSpPr>
          <p:cNvPr id="8" name="Freeform 8"/>
          <p:cNvSpPr/>
          <p:nvPr/>
        </p:nvSpPr>
        <p:spPr>
          <a:xfrm flipH="1">
            <a:off x="7765311" y="6242791"/>
            <a:ext cx="2757377" cy="992656"/>
          </a:xfrm>
          <a:custGeom>
            <a:avLst/>
            <a:gdLst/>
            <a:ahLst/>
            <a:cxnLst/>
            <a:rect l="l" t="t" r="r" b="b"/>
            <a:pathLst>
              <a:path w="2757377" h="992656">
                <a:moveTo>
                  <a:pt x="2757378" y="0"/>
                </a:moveTo>
                <a:lnTo>
                  <a:pt x="0" y="0"/>
                </a:lnTo>
                <a:lnTo>
                  <a:pt x="0" y="992656"/>
                </a:lnTo>
                <a:lnTo>
                  <a:pt x="2757378" y="992656"/>
                </a:lnTo>
                <a:lnTo>
                  <a:pt x="2757378"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Freeform 4"/>
          <p:cNvSpPr/>
          <p:nvPr/>
        </p:nvSpPr>
        <p:spPr>
          <a:xfrm>
            <a:off x="1948199" y="4006934"/>
            <a:ext cx="939280" cy="939280"/>
          </a:xfrm>
          <a:custGeom>
            <a:avLst/>
            <a:gdLst/>
            <a:ahLst/>
            <a:cxnLst/>
            <a:rect l="l" t="t" r="r" b="b"/>
            <a:pathLst>
              <a:path w="939280" h="939280">
                <a:moveTo>
                  <a:pt x="0" y="0"/>
                </a:moveTo>
                <a:lnTo>
                  <a:pt x="939280" y="0"/>
                </a:lnTo>
                <a:lnTo>
                  <a:pt x="939280" y="939280"/>
                </a:lnTo>
                <a:lnTo>
                  <a:pt x="0" y="9392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234634" y="1181100"/>
            <a:ext cx="11818732" cy="1059371"/>
          </a:xfrm>
          <a:prstGeom prst="rect">
            <a:avLst/>
          </a:prstGeom>
        </p:spPr>
        <p:txBody>
          <a:bodyPr lIns="0" tIns="0" rIns="0" bIns="0" rtlCol="0" anchor="t">
            <a:spAutoFit/>
          </a:bodyPr>
          <a:lstStyle/>
          <a:p>
            <a:pPr marL="0" lvl="0" indent="0" algn="ctr">
              <a:lnSpc>
                <a:spcPts val="8168"/>
              </a:lnSpc>
            </a:pPr>
            <a:r>
              <a:rPr lang="en-US" sz="8008" b="1">
                <a:solidFill>
                  <a:srgbClr val="3159BC"/>
                </a:solidFill>
                <a:latin typeface="Readex Pro Bold"/>
                <a:ea typeface="Readex Pro Bold"/>
                <a:cs typeface="Readex Pro Bold"/>
                <a:sym typeface="Readex Pro Bold"/>
              </a:rPr>
              <a:t>Advantages</a:t>
            </a:r>
          </a:p>
        </p:txBody>
      </p:sp>
      <p:sp>
        <p:nvSpPr>
          <p:cNvPr id="6" name="TextBox 6"/>
          <p:cNvSpPr txBox="1"/>
          <p:nvPr/>
        </p:nvSpPr>
        <p:spPr>
          <a:xfrm>
            <a:off x="3234634" y="3819173"/>
            <a:ext cx="13189730" cy="8861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Saves time by automating manual processes and improves accuracy by eliminating calculation errors in leave tracking.</a:t>
            </a:r>
          </a:p>
        </p:txBody>
      </p:sp>
      <p:sp>
        <p:nvSpPr>
          <p:cNvPr id="7" name="TextBox 7"/>
          <p:cNvSpPr txBox="1"/>
          <p:nvPr/>
        </p:nvSpPr>
        <p:spPr>
          <a:xfrm>
            <a:off x="3234634" y="5436087"/>
            <a:ext cx="13189730" cy="8861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Easy tracking of leave history and patterns enables better communication between employees and management.</a:t>
            </a:r>
          </a:p>
        </p:txBody>
      </p:sp>
      <p:sp>
        <p:nvSpPr>
          <p:cNvPr id="8" name="TextBox 8"/>
          <p:cNvSpPr txBox="1"/>
          <p:nvPr/>
        </p:nvSpPr>
        <p:spPr>
          <a:xfrm>
            <a:off x="3234634" y="7053002"/>
            <a:ext cx="13189730" cy="8861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Centralized data access allows quick decision-making and provides transparency across the organization.</a:t>
            </a:r>
          </a:p>
        </p:txBody>
      </p:sp>
      <p:sp>
        <p:nvSpPr>
          <p:cNvPr id="9" name="Freeform 9"/>
          <p:cNvSpPr/>
          <p:nvPr/>
        </p:nvSpPr>
        <p:spPr>
          <a:xfrm>
            <a:off x="1948199" y="5623848"/>
            <a:ext cx="939280" cy="939280"/>
          </a:xfrm>
          <a:custGeom>
            <a:avLst/>
            <a:gdLst/>
            <a:ahLst/>
            <a:cxnLst/>
            <a:rect l="l" t="t" r="r" b="b"/>
            <a:pathLst>
              <a:path w="939280" h="939280">
                <a:moveTo>
                  <a:pt x="0" y="0"/>
                </a:moveTo>
                <a:lnTo>
                  <a:pt x="939280" y="0"/>
                </a:lnTo>
                <a:lnTo>
                  <a:pt x="939280" y="939281"/>
                </a:lnTo>
                <a:lnTo>
                  <a:pt x="0" y="93928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1948199" y="7240763"/>
            <a:ext cx="939280" cy="939280"/>
          </a:xfrm>
          <a:custGeom>
            <a:avLst/>
            <a:gdLst/>
            <a:ahLst/>
            <a:cxnLst/>
            <a:rect l="l" t="t" r="r" b="b"/>
            <a:pathLst>
              <a:path w="939280" h="939280">
                <a:moveTo>
                  <a:pt x="0" y="0"/>
                </a:moveTo>
                <a:lnTo>
                  <a:pt x="939280" y="0"/>
                </a:lnTo>
                <a:lnTo>
                  <a:pt x="939280" y="939280"/>
                </a:lnTo>
                <a:lnTo>
                  <a:pt x="0" y="93928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TextBox 4"/>
          <p:cNvSpPr txBox="1"/>
          <p:nvPr/>
        </p:nvSpPr>
        <p:spPr>
          <a:xfrm>
            <a:off x="4388598" y="3381023"/>
            <a:ext cx="11057897" cy="17624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Requires internet connection or system access for full functionality</a:t>
            </a:r>
          </a:p>
          <a:p>
            <a:pPr marL="0" lvl="0" indent="0" algn="just">
              <a:lnSpc>
                <a:spcPts val="3513"/>
              </a:lnSpc>
            </a:pPr>
            <a:r>
              <a:rPr lang="en-US" sz="3055">
                <a:solidFill>
                  <a:srgbClr val="3159BC"/>
                </a:solidFill>
                <a:latin typeface="Readex Pro"/>
                <a:ea typeface="Readex Pro"/>
                <a:cs typeface="Readex Pro"/>
                <a:sym typeface="Readex Pro"/>
              </a:rPr>
              <a:t>Basic security implementation may need enhancement for sensitive environments</a:t>
            </a:r>
          </a:p>
        </p:txBody>
      </p:sp>
      <p:sp>
        <p:nvSpPr>
          <p:cNvPr id="5" name="Freeform 5"/>
          <p:cNvSpPr/>
          <p:nvPr/>
        </p:nvSpPr>
        <p:spPr>
          <a:xfrm>
            <a:off x="2637745" y="3923095"/>
            <a:ext cx="1193779" cy="1106958"/>
          </a:xfrm>
          <a:custGeom>
            <a:avLst/>
            <a:gdLst/>
            <a:ahLst/>
            <a:cxnLst/>
            <a:rect l="l" t="t" r="r" b="b"/>
            <a:pathLst>
              <a:path w="1193779" h="1106958">
                <a:moveTo>
                  <a:pt x="0" y="0"/>
                </a:moveTo>
                <a:lnTo>
                  <a:pt x="1193778" y="0"/>
                </a:lnTo>
                <a:lnTo>
                  <a:pt x="1193778" y="1106958"/>
                </a:lnTo>
                <a:lnTo>
                  <a:pt x="0" y="11069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234634" y="1740698"/>
            <a:ext cx="11818732" cy="1059242"/>
          </a:xfrm>
          <a:prstGeom prst="rect">
            <a:avLst/>
          </a:prstGeom>
        </p:spPr>
        <p:txBody>
          <a:bodyPr lIns="0" tIns="0" rIns="0" bIns="0" rtlCol="0" anchor="t">
            <a:spAutoFit/>
          </a:bodyPr>
          <a:lstStyle/>
          <a:p>
            <a:pPr marL="0" lvl="0" indent="0" algn="ctr">
              <a:lnSpc>
                <a:spcPts val="8162"/>
              </a:lnSpc>
            </a:pPr>
            <a:r>
              <a:rPr lang="en-US" sz="8002" b="1">
                <a:solidFill>
                  <a:srgbClr val="3159BC"/>
                </a:solidFill>
                <a:latin typeface="Readex Pro Bold"/>
                <a:ea typeface="Readex Pro Bold"/>
                <a:cs typeface="Readex Pro Bold"/>
                <a:sym typeface="Readex Pro Bold"/>
              </a:rPr>
              <a:t>Limitations</a:t>
            </a:r>
          </a:p>
        </p:txBody>
      </p:sp>
      <p:sp>
        <p:nvSpPr>
          <p:cNvPr id="7" name="TextBox 7"/>
          <p:cNvSpPr txBox="1"/>
          <p:nvPr/>
        </p:nvSpPr>
        <p:spPr>
          <a:xfrm>
            <a:off x="4388598" y="6162675"/>
            <a:ext cx="11057897" cy="17624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Dependent on user training for proper adoption and effective use</a:t>
            </a:r>
          </a:p>
          <a:p>
            <a:pPr marL="0" lvl="0" indent="0" algn="just">
              <a:lnSpc>
                <a:spcPts val="3513"/>
              </a:lnSpc>
            </a:pPr>
            <a:r>
              <a:rPr lang="en-US" sz="3055">
                <a:solidFill>
                  <a:srgbClr val="3159BC"/>
                </a:solidFill>
                <a:latin typeface="Readex Pro"/>
                <a:ea typeface="Readex Pro"/>
                <a:cs typeface="Readex Pro"/>
                <a:sym typeface="Readex Pro"/>
              </a:rPr>
              <a:t>Initial setup and data migration required before deployment</a:t>
            </a:r>
          </a:p>
        </p:txBody>
      </p:sp>
      <p:sp>
        <p:nvSpPr>
          <p:cNvPr id="8" name="Freeform 8"/>
          <p:cNvSpPr/>
          <p:nvPr/>
        </p:nvSpPr>
        <p:spPr>
          <a:xfrm>
            <a:off x="2858266" y="6469259"/>
            <a:ext cx="1193779" cy="1106958"/>
          </a:xfrm>
          <a:custGeom>
            <a:avLst/>
            <a:gdLst/>
            <a:ahLst/>
            <a:cxnLst/>
            <a:rect l="l" t="t" r="r" b="b"/>
            <a:pathLst>
              <a:path w="1193779" h="1106958">
                <a:moveTo>
                  <a:pt x="0" y="0"/>
                </a:moveTo>
                <a:lnTo>
                  <a:pt x="1193779" y="0"/>
                </a:lnTo>
                <a:lnTo>
                  <a:pt x="1193779" y="1106958"/>
                </a:lnTo>
                <a:lnTo>
                  <a:pt x="0" y="1106958"/>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Freeform 4"/>
          <p:cNvSpPr/>
          <p:nvPr/>
        </p:nvSpPr>
        <p:spPr>
          <a:xfrm>
            <a:off x="1719367" y="3991467"/>
            <a:ext cx="1210623" cy="1233936"/>
          </a:xfrm>
          <a:custGeom>
            <a:avLst/>
            <a:gdLst/>
            <a:ahLst/>
            <a:cxnLst/>
            <a:rect l="l" t="t" r="r" b="b"/>
            <a:pathLst>
              <a:path w="1210623" h="1233936">
                <a:moveTo>
                  <a:pt x="0" y="0"/>
                </a:moveTo>
                <a:lnTo>
                  <a:pt x="1210623" y="0"/>
                </a:lnTo>
                <a:lnTo>
                  <a:pt x="1210623" y="1233936"/>
                </a:lnTo>
                <a:lnTo>
                  <a:pt x="0" y="123393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234634" y="1740698"/>
            <a:ext cx="11818732" cy="1059242"/>
          </a:xfrm>
          <a:prstGeom prst="rect">
            <a:avLst/>
          </a:prstGeom>
        </p:spPr>
        <p:txBody>
          <a:bodyPr lIns="0" tIns="0" rIns="0" bIns="0" rtlCol="0" anchor="t">
            <a:spAutoFit/>
          </a:bodyPr>
          <a:lstStyle/>
          <a:p>
            <a:pPr marL="0" lvl="0" indent="0" algn="ctr">
              <a:lnSpc>
                <a:spcPts val="8162"/>
              </a:lnSpc>
            </a:pPr>
            <a:r>
              <a:rPr lang="en-US" sz="8002" b="1">
                <a:solidFill>
                  <a:srgbClr val="3159BC"/>
                </a:solidFill>
                <a:latin typeface="Readex Pro Bold"/>
                <a:ea typeface="Readex Pro Bold"/>
                <a:cs typeface="Readex Pro Bold"/>
                <a:sym typeface="Readex Pro Bold"/>
              </a:rPr>
              <a:t>Future Scope</a:t>
            </a:r>
          </a:p>
        </p:txBody>
      </p:sp>
      <p:sp>
        <p:nvSpPr>
          <p:cNvPr id="6" name="TextBox 6"/>
          <p:cNvSpPr txBox="1"/>
          <p:nvPr/>
        </p:nvSpPr>
        <p:spPr>
          <a:xfrm>
            <a:off x="3234634" y="3512884"/>
            <a:ext cx="12850797" cy="17624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Mobile app integration enables on-the-go leave management access. Email and SMS notifications provide real-time updates on application status. AI-based prediction analyzes leave patterns to help managers plan workforce availability more effectively.</a:t>
            </a:r>
          </a:p>
        </p:txBody>
      </p:sp>
      <p:sp>
        <p:nvSpPr>
          <p:cNvPr id="7" name="TextBox 7"/>
          <p:cNvSpPr txBox="1"/>
          <p:nvPr/>
        </p:nvSpPr>
        <p:spPr>
          <a:xfrm>
            <a:off x="3234634" y="6427886"/>
            <a:ext cx="12850797" cy="176247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Biometric integration enhances security through fingerprint or facial recognition authentication. Seamless payroll system integration ensures accurate salary calculations based on leave records. Multi-language support expands accessibility for diverse workforces.</a:t>
            </a:r>
          </a:p>
        </p:txBody>
      </p:sp>
      <p:sp>
        <p:nvSpPr>
          <p:cNvPr id="8" name="Freeform 8"/>
          <p:cNvSpPr/>
          <p:nvPr/>
        </p:nvSpPr>
        <p:spPr>
          <a:xfrm>
            <a:off x="1719367" y="6959249"/>
            <a:ext cx="1210623" cy="1233936"/>
          </a:xfrm>
          <a:custGeom>
            <a:avLst/>
            <a:gdLst/>
            <a:ahLst/>
            <a:cxnLst/>
            <a:rect l="l" t="t" r="r" b="b"/>
            <a:pathLst>
              <a:path w="1210623" h="1233936">
                <a:moveTo>
                  <a:pt x="0" y="0"/>
                </a:moveTo>
                <a:lnTo>
                  <a:pt x="1210623" y="0"/>
                </a:lnTo>
                <a:lnTo>
                  <a:pt x="1210623" y="1233936"/>
                </a:lnTo>
                <a:lnTo>
                  <a:pt x="0" y="1233936"/>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861892" y="-2517395"/>
            <a:ext cx="20852798" cy="10634927"/>
          </a:xfrm>
          <a:custGeom>
            <a:avLst/>
            <a:gdLst/>
            <a:ahLst/>
            <a:cxnLst/>
            <a:rect l="l" t="t" r="r" b="b"/>
            <a:pathLst>
              <a:path w="20852798" h="10634927">
                <a:moveTo>
                  <a:pt x="20852798" y="10634927"/>
                </a:moveTo>
                <a:lnTo>
                  <a:pt x="0" y="10634927"/>
                </a:lnTo>
                <a:lnTo>
                  <a:pt x="0" y="0"/>
                </a:lnTo>
                <a:lnTo>
                  <a:pt x="20852798" y="0"/>
                </a:lnTo>
                <a:lnTo>
                  <a:pt x="20852798" y="10634927"/>
                </a:lnTo>
                <a:close/>
              </a:path>
            </a:pathLst>
          </a:custGeom>
          <a:blipFill>
            <a:blip r:embed="rId2"/>
            <a:stretch>
              <a:fillRect/>
            </a:stretch>
          </a:blipFill>
        </p:spPr>
      </p:sp>
      <p:sp>
        <p:nvSpPr>
          <p:cNvPr id="3" name="Freeform 3"/>
          <p:cNvSpPr/>
          <p:nvPr/>
        </p:nvSpPr>
        <p:spPr>
          <a:xfrm>
            <a:off x="0" y="2455483"/>
            <a:ext cx="20081309" cy="10241468"/>
          </a:xfrm>
          <a:custGeom>
            <a:avLst/>
            <a:gdLst/>
            <a:ahLst/>
            <a:cxnLst/>
            <a:rect l="l" t="t" r="r" b="b"/>
            <a:pathLst>
              <a:path w="20081309" h="10241468">
                <a:moveTo>
                  <a:pt x="0" y="0"/>
                </a:moveTo>
                <a:lnTo>
                  <a:pt x="20081309" y="0"/>
                </a:lnTo>
                <a:lnTo>
                  <a:pt x="20081309" y="10241468"/>
                </a:lnTo>
                <a:lnTo>
                  <a:pt x="0" y="10241468"/>
                </a:lnTo>
                <a:lnTo>
                  <a:pt x="0" y="0"/>
                </a:lnTo>
                <a:close/>
              </a:path>
            </a:pathLst>
          </a:custGeom>
          <a:blipFill>
            <a:blip r:embed="rId2"/>
            <a:stretch>
              <a:fillRect/>
            </a:stretch>
          </a:blipFill>
        </p:spPr>
      </p:sp>
      <p:sp>
        <p:nvSpPr>
          <p:cNvPr id="4" name="TextBox 4"/>
          <p:cNvSpPr txBox="1"/>
          <p:nvPr/>
        </p:nvSpPr>
        <p:spPr>
          <a:xfrm>
            <a:off x="3234634" y="1740698"/>
            <a:ext cx="11818732" cy="1059242"/>
          </a:xfrm>
          <a:prstGeom prst="rect">
            <a:avLst/>
          </a:prstGeom>
        </p:spPr>
        <p:txBody>
          <a:bodyPr lIns="0" tIns="0" rIns="0" bIns="0" rtlCol="0" anchor="t">
            <a:spAutoFit/>
          </a:bodyPr>
          <a:lstStyle/>
          <a:p>
            <a:pPr marL="0" lvl="0" indent="0" algn="ctr">
              <a:lnSpc>
                <a:spcPts val="8162"/>
              </a:lnSpc>
            </a:pPr>
            <a:r>
              <a:rPr lang="en-US" sz="8002" b="1">
                <a:solidFill>
                  <a:srgbClr val="3159BC"/>
                </a:solidFill>
                <a:latin typeface="Readex Pro Bold"/>
                <a:ea typeface="Readex Pro Bold"/>
                <a:cs typeface="Readex Pro Bold"/>
                <a:sym typeface="Readex Pro Bold"/>
              </a:rPr>
              <a:t>Conclusion</a:t>
            </a:r>
          </a:p>
        </p:txBody>
      </p:sp>
      <p:sp>
        <p:nvSpPr>
          <p:cNvPr id="5" name="TextBox 5"/>
          <p:cNvSpPr txBox="1"/>
          <p:nvPr/>
        </p:nvSpPr>
        <p:spPr>
          <a:xfrm>
            <a:off x="2202569" y="3726155"/>
            <a:ext cx="13882862" cy="3076927"/>
          </a:xfrm>
          <a:prstGeom prst="rect">
            <a:avLst/>
          </a:prstGeom>
        </p:spPr>
        <p:txBody>
          <a:bodyPr lIns="0" tIns="0" rIns="0" bIns="0" rtlCol="0" anchor="t">
            <a:spAutoFit/>
          </a:bodyPr>
          <a:lstStyle/>
          <a:p>
            <a:pPr marL="0" lvl="0" indent="0" algn="just">
              <a:lnSpc>
                <a:spcPts val="3513"/>
              </a:lnSpc>
            </a:pPr>
            <a:r>
              <a:rPr lang="en-US" sz="3055">
                <a:solidFill>
                  <a:srgbClr val="3159BC"/>
                </a:solidFill>
                <a:latin typeface="Readex Pro"/>
                <a:ea typeface="Readex Pro"/>
                <a:cs typeface="Readex Pro"/>
                <a:sym typeface="Readex Pro"/>
              </a:rPr>
              <a:t>The Employee Leave Management System automates leave management, reducing manual inefficiencies and enhancing productivity across the organization.</a:t>
            </a:r>
          </a:p>
          <a:p>
            <a:pPr marL="0" lvl="0" indent="0" algn="just">
              <a:lnSpc>
                <a:spcPts val="3513"/>
              </a:lnSpc>
            </a:pPr>
            <a:r>
              <a:rPr lang="en-US" sz="3055">
                <a:solidFill>
                  <a:srgbClr val="3159BC"/>
                </a:solidFill>
                <a:latin typeface="Readex Pro"/>
                <a:ea typeface="Readex Pro"/>
                <a:cs typeface="Readex Pro"/>
                <a:sym typeface="Readex Pro"/>
              </a:rPr>
              <a:t>It provides a centralized platform for employees and managers, ensuring transparency, accuracy, and faster leave processing for all stakeholders.</a:t>
            </a:r>
          </a:p>
          <a:p>
            <a:pPr marL="0" lvl="0" indent="0" algn="just">
              <a:lnSpc>
                <a:spcPts val="3513"/>
              </a:lnSpc>
            </a:pPr>
            <a:r>
              <a:rPr lang="en-US" sz="3055">
                <a:solidFill>
                  <a:srgbClr val="3159BC"/>
                </a:solidFill>
                <a:latin typeface="Readex Pro"/>
                <a:ea typeface="Readex Pro"/>
                <a:cs typeface="Readex Pro"/>
                <a:sym typeface="Readex Pro"/>
              </a:rPr>
              <a:t>This solution modernizes traditional leave management, creating a more efficient and streamlined workplace environment.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l="-5147" r="-5147"/>
            </a:stretch>
          </a:blipFill>
        </p:spPr>
      </p:sp>
      <p:sp>
        <p:nvSpPr>
          <p:cNvPr id="3" name="TextBox 3"/>
          <p:cNvSpPr txBox="1"/>
          <p:nvPr/>
        </p:nvSpPr>
        <p:spPr>
          <a:xfrm>
            <a:off x="4033277" y="4052906"/>
            <a:ext cx="10292187" cy="1720877"/>
          </a:xfrm>
          <a:prstGeom prst="rect">
            <a:avLst/>
          </a:prstGeom>
        </p:spPr>
        <p:txBody>
          <a:bodyPr lIns="0" tIns="0" rIns="0" bIns="0" rtlCol="0" anchor="t">
            <a:spAutoFit/>
          </a:bodyPr>
          <a:lstStyle/>
          <a:p>
            <a:pPr marL="0" lvl="0" indent="0" algn="l">
              <a:lnSpc>
                <a:spcPts val="6678"/>
              </a:lnSpc>
            </a:pPr>
            <a:r>
              <a:rPr lang="en-US" sz="6547" b="1">
                <a:solidFill>
                  <a:srgbClr val="3159BC"/>
                </a:solidFill>
                <a:latin typeface="Readex Pro Bold"/>
                <a:ea typeface="Readex Pro Bold"/>
                <a:cs typeface="Readex Pro Bold"/>
                <a:sym typeface="Readex Pro Bold"/>
              </a:rPr>
              <a:t>THANK YOU FOR YOUR ATTENTION</a:t>
            </a:r>
          </a:p>
        </p:txBody>
      </p:sp>
      <p:sp>
        <p:nvSpPr>
          <p:cNvPr id="4" name="TextBox 4"/>
          <p:cNvSpPr txBox="1"/>
          <p:nvPr/>
        </p:nvSpPr>
        <p:spPr>
          <a:xfrm>
            <a:off x="4303411" y="5803253"/>
            <a:ext cx="8104480" cy="1304858"/>
          </a:xfrm>
          <a:prstGeom prst="rect">
            <a:avLst/>
          </a:prstGeom>
        </p:spPr>
        <p:txBody>
          <a:bodyPr lIns="0" tIns="0" rIns="0" bIns="0" rtlCol="0" anchor="t">
            <a:spAutoFit/>
          </a:bodyPr>
          <a:lstStyle/>
          <a:p>
            <a:pPr marL="0" lvl="0" indent="0" algn="l">
              <a:lnSpc>
                <a:spcPts val="5162"/>
              </a:lnSpc>
            </a:pPr>
            <a:r>
              <a:rPr lang="en-US" sz="4489">
                <a:solidFill>
                  <a:srgbClr val="3159BC"/>
                </a:solidFill>
                <a:latin typeface="Readex Pro"/>
                <a:ea typeface="Readex Pro"/>
                <a:cs typeface="Readex Pro"/>
                <a:sym typeface="Readex Pro"/>
              </a:rPr>
              <a:t>Questions and Feedback Welcome</a:t>
            </a:r>
          </a:p>
        </p:txBody>
      </p:sp>
      <p:grpSp>
        <p:nvGrpSpPr>
          <p:cNvPr id="5" name="Group 5"/>
          <p:cNvGrpSpPr>
            <a:grpSpLocks noChangeAspect="1"/>
          </p:cNvGrpSpPr>
          <p:nvPr/>
        </p:nvGrpSpPr>
        <p:grpSpPr>
          <a:xfrm>
            <a:off x="12802236" y="4690089"/>
            <a:ext cx="6418935" cy="6418935"/>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130" y="0"/>
                    <a:pt x="0" y="1421130"/>
                    <a:pt x="0" y="3175000"/>
                  </a:cubicBezTo>
                  <a:lnTo>
                    <a:pt x="0" y="6350000"/>
                  </a:lnTo>
                  <a:lnTo>
                    <a:pt x="3175000" y="6350000"/>
                  </a:lnTo>
                  <a:cubicBezTo>
                    <a:pt x="4928870" y="6350000"/>
                    <a:pt x="6350000" y="4928870"/>
                    <a:pt x="6350000" y="3175000"/>
                  </a:cubicBezTo>
                  <a:cubicBezTo>
                    <a:pt x="6350000" y="1421130"/>
                    <a:pt x="4928870" y="0"/>
                    <a:pt x="3175000" y="0"/>
                  </a:cubicBezTo>
                  <a:close/>
                </a:path>
              </a:pathLst>
            </a:custGeom>
            <a:solidFill>
              <a:srgbClr val="3159BC"/>
            </a:solidFill>
          </p:spPr>
        </p:sp>
        <p:sp>
          <p:nvSpPr>
            <p:cNvPr id="7" name="Freeform 7"/>
            <p:cNvSpPr/>
            <p:nvPr/>
          </p:nvSpPr>
          <p:spPr>
            <a:xfrm>
              <a:off x="353169" y="392402"/>
              <a:ext cx="5643663" cy="5618536"/>
            </a:xfrm>
            <a:custGeom>
              <a:avLst/>
              <a:gdLst/>
              <a:ahLst/>
              <a:cxnLst/>
              <a:rect l="l" t="t" r="r" b="b"/>
              <a:pathLst>
                <a:path w="5643663" h="5618536">
                  <a:moveTo>
                    <a:pt x="2821831" y="28"/>
                  </a:moveTo>
                  <a:cubicBezTo>
                    <a:pt x="1815193" y="-4474"/>
                    <a:pt x="883090" y="529978"/>
                    <a:pt x="378467" y="1401009"/>
                  </a:cubicBezTo>
                  <a:cubicBezTo>
                    <a:pt x="-126156" y="2272040"/>
                    <a:pt x="-126156" y="3346496"/>
                    <a:pt x="378467" y="4217527"/>
                  </a:cubicBezTo>
                  <a:cubicBezTo>
                    <a:pt x="883090" y="5088558"/>
                    <a:pt x="1815193" y="5623010"/>
                    <a:pt x="2821831" y="5618508"/>
                  </a:cubicBezTo>
                  <a:cubicBezTo>
                    <a:pt x="3828469" y="5623010"/>
                    <a:pt x="4760572" y="5088558"/>
                    <a:pt x="5265195" y="4217527"/>
                  </a:cubicBezTo>
                  <a:cubicBezTo>
                    <a:pt x="5769818" y="3346496"/>
                    <a:pt x="5769818" y="2272040"/>
                    <a:pt x="5265195" y="1401009"/>
                  </a:cubicBezTo>
                  <a:cubicBezTo>
                    <a:pt x="4760572" y="529977"/>
                    <a:pt x="3828469" y="-4474"/>
                    <a:pt x="2821831" y="28"/>
                  </a:cubicBezTo>
                  <a:close/>
                </a:path>
              </a:pathLst>
            </a:custGeom>
            <a:blipFill>
              <a:blip r:embed="rId3"/>
              <a:stretch>
                <a:fillRect l="223" r="223"/>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752</Words>
  <Application>Microsoft Office PowerPoint</Application>
  <PresentationFormat>Custom</PresentationFormat>
  <Paragraphs>74</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Readex Pro Bold</vt:lpstr>
      <vt:lpstr>Arial</vt:lpstr>
      <vt:lpstr>Readex Pro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Leave Management System Overview</dc:title>
  <dc:creator>Ravi Solanki</dc:creator>
  <cp:lastModifiedBy>Ravi Solanki</cp:lastModifiedBy>
  <cp:revision>2</cp:revision>
  <dcterms:created xsi:type="dcterms:W3CDTF">2006-08-16T00:00:00Z</dcterms:created>
  <dcterms:modified xsi:type="dcterms:W3CDTF">2026-04-29T16:34:50Z</dcterms:modified>
  <dc:identifier>DAHIQI40Dk4</dc:identifier>
</cp:coreProperties>
</file>